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1"/>
  </p:sldMasterIdLst>
  <p:notesMasterIdLst>
    <p:notesMasterId r:id="rId22"/>
  </p:notesMasterIdLst>
  <p:sldIdLst>
    <p:sldId id="256" r:id="rId2"/>
    <p:sldId id="257" r:id="rId3"/>
    <p:sldId id="258" r:id="rId4"/>
    <p:sldId id="259" r:id="rId5"/>
    <p:sldId id="274" r:id="rId6"/>
    <p:sldId id="275"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1666" y="1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14D41DA-E9D2-469D-971F-45C127C05540}" type="datetimeFigureOut">
              <a:rPr lang="en-IN" smtClean="0"/>
              <a:t>09-12-2025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DE2602F-C6DA-44E6-93E1-2DCEF251BC48}" type="slidenum">
              <a:rPr lang="en-IN" smtClean="0"/>
              <a:t>‹#›</a:t>
            </a:fld>
            <a:endParaRPr lang="en-IN"/>
          </a:p>
        </p:txBody>
      </p:sp>
    </p:spTree>
    <p:extLst>
      <p:ext uri="{BB962C8B-B14F-4D97-AF65-F5344CB8AC3E}">
        <p14:creationId xmlns:p14="http://schemas.microsoft.com/office/powerpoint/2010/main" val="1405988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DE2602F-C6DA-44E6-93E1-2DCEF251BC48}" type="slidenum">
              <a:rPr lang="en-IN" smtClean="0"/>
              <a:t>1</a:t>
            </a:fld>
            <a:endParaRPr lang="en-IN"/>
          </a:p>
        </p:txBody>
      </p:sp>
    </p:spTree>
    <p:extLst>
      <p:ext uri="{BB962C8B-B14F-4D97-AF65-F5344CB8AC3E}">
        <p14:creationId xmlns:p14="http://schemas.microsoft.com/office/powerpoint/2010/main" val="19155558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993B722D-1B72-4011-95A2-385BCB6A1625}" type="datetimeFigureOut">
              <a:rPr lang="en-IN" smtClean="0"/>
              <a:t>09-12-2025</a:t>
            </a:fld>
            <a:endParaRPr lang="en-IN"/>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IN"/>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50768C49-3445-479E-8044-CE9853F195B6}"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93B722D-1B72-4011-95A2-385BCB6A1625}"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768C49-3445-479E-8044-CE9853F195B6}" type="slidenum">
              <a:rPr lang="en-IN" smtClean="0"/>
              <a:t>‹#›</a:t>
            </a:fld>
            <a:endParaRPr lang="en-IN"/>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93B722D-1B72-4011-95A2-385BCB6A1625}"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768C49-3445-479E-8044-CE9853F195B6}" type="slidenum">
              <a:rPr lang="en-IN" smtClean="0"/>
              <a:t>‹#›</a:t>
            </a:fld>
            <a:endParaRPr lang="en-IN"/>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93B722D-1B72-4011-95A2-385BCB6A1625}"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768C49-3445-479E-8044-CE9853F195B6}" type="slidenum">
              <a:rPr lang="en-IN" smtClean="0"/>
              <a:t>‹#›</a:t>
            </a:fld>
            <a:endParaRPr lang="en-IN"/>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93B722D-1B72-4011-95A2-385BCB6A1625}" type="datetimeFigureOut">
              <a:rPr lang="en-IN" smtClean="0"/>
              <a:t>09-12-2025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0768C49-3445-479E-8044-CE9853F195B6}"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93B722D-1B72-4011-95A2-385BCB6A1625}" type="datetimeFigureOut">
              <a:rPr lang="en-IN" smtClean="0"/>
              <a:t>09-12-2025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0768C49-3445-479E-8044-CE9853F195B6}" type="slidenum">
              <a:rPr lang="en-IN" smtClean="0"/>
              <a:t>‹#›</a:t>
            </a:fld>
            <a:endParaRPr lang="en-IN"/>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3B722D-1B72-4011-95A2-385BCB6A1625}" type="datetimeFigureOut">
              <a:rPr lang="en-IN" smtClean="0"/>
              <a:t>09-12-2025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0768C49-3445-479E-8044-CE9853F195B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993B722D-1B72-4011-95A2-385BCB6A1625}"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768C49-3445-479E-8044-CE9853F195B6}"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993B722D-1B72-4011-95A2-385BCB6A1625}" type="datetimeFigureOut">
              <a:rPr lang="en-IN" smtClean="0"/>
              <a:t>09-12-2025</a:t>
            </a:fld>
            <a:endParaRPr lang="en-IN"/>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IN"/>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50768C49-3445-479E-8044-CE9853F195B6}" type="slidenum">
              <a:rPr lang="en-IN" smtClean="0"/>
              <a:t>‹#›</a:t>
            </a:fld>
            <a:endParaRPr lang="en-IN"/>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93B722D-1B72-4011-95A2-385BCB6A1625}"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768C49-3445-479E-8044-CE9853F195B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93B722D-1B72-4011-95A2-385BCB6A1625}"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768C49-3445-479E-8044-CE9853F195B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993B722D-1B72-4011-95A2-385BCB6A1625}" type="datetimeFigureOut">
              <a:rPr lang="en-IN" smtClean="0"/>
              <a:t>09-12-2025</a:t>
            </a:fld>
            <a:endParaRPr lang="en-IN"/>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IN"/>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50768C49-3445-479E-8044-CE9853F195B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latin typeface="Algerian" pitchFamily="82" charset="0"/>
              </a:rPr>
              <a:t>STUDENT GRADE MANGEMENT SYSTEM </a:t>
            </a:r>
            <a:endParaRPr lang="en-IN" dirty="0">
              <a:latin typeface="Algerian" pitchFamily="82" charset="0"/>
            </a:endParaRPr>
          </a:p>
        </p:txBody>
      </p:sp>
    </p:spTree>
    <p:extLst>
      <p:ext uri="{BB962C8B-B14F-4D97-AF65-F5344CB8AC3E}">
        <p14:creationId xmlns:p14="http://schemas.microsoft.com/office/powerpoint/2010/main" val="3450566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IN" b="1" dirty="0"/>
          </a:p>
          <a:p>
            <a:r>
              <a:rPr lang="en-IN" b="1" dirty="0">
                <a:latin typeface="Bahnschrift Condensed" pitchFamily="34" charset="0"/>
              </a:rPr>
              <a:t>Software Requirements</a:t>
            </a:r>
          </a:p>
          <a:p>
            <a:r>
              <a:rPr lang="en-IN" dirty="0">
                <a:latin typeface="Bahnschrift Condensed" pitchFamily="34" charset="0"/>
              </a:rPr>
              <a:t>C Compiler (GCC / Turbo C)</a:t>
            </a:r>
          </a:p>
          <a:p>
            <a:r>
              <a:rPr lang="en-IN" dirty="0">
                <a:latin typeface="Bahnschrift Condensed" pitchFamily="34" charset="0"/>
              </a:rPr>
              <a:t>Notepad / VS Code / Any IDE</a:t>
            </a:r>
          </a:p>
          <a:p>
            <a:r>
              <a:rPr lang="en-IN" b="1" dirty="0">
                <a:latin typeface="Bahnschrift Condensed" pitchFamily="34" charset="0"/>
              </a:rPr>
              <a:t>Hardware Requirements</a:t>
            </a:r>
          </a:p>
          <a:p>
            <a:r>
              <a:rPr lang="en-IN" dirty="0">
                <a:latin typeface="Bahnschrift Condensed" pitchFamily="34" charset="0"/>
              </a:rPr>
              <a:t>RAM: 512 MB or more</a:t>
            </a:r>
          </a:p>
          <a:p>
            <a:r>
              <a:rPr lang="en-IN" dirty="0">
                <a:latin typeface="Bahnschrift Condensed" pitchFamily="34" charset="0"/>
              </a:rPr>
              <a:t>Operating System: Windows / Linux</a:t>
            </a:r>
          </a:p>
          <a:p>
            <a:r>
              <a:rPr lang="en-IN" dirty="0">
                <a:latin typeface="Bahnschrift Condensed" pitchFamily="34" charset="0"/>
              </a:rPr>
              <a:t>Hard Disk: 20 GB</a:t>
            </a:r>
          </a:p>
          <a:p>
            <a:endParaRPr lang="en-IN" dirty="0"/>
          </a:p>
        </p:txBody>
      </p:sp>
      <p:sp>
        <p:nvSpPr>
          <p:cNvPr id="2" name="Title 1"/>
          <p:cNvSpPr>
            <a:spLocks noGrp="1"/>
          </p:cNvSpPr>
          <p:nvPr>
            <p:ph type="title"/>
          </p:nvPr>
        </p:nvSpPr>
        <p:spPr>
          <a:xfrm>
            <a:off x="1907704" y="274638"/>
            <a:ext cx="6779096" cy="1066130"/>
          </a:xfrm>
        </p:spPr>
        <p:txBody>
          <a:bodyPr/>
          <a:lstStyle/>
          <a:p>
            <a:r>
              <a:rPr lang="en-IN" dirty="0">
                <a:solidFill>
                  <a:schemeClr val="accent1"/>
                </a:solidFill>
                <a:latin typeface="Algerian" pitchFamily="82" charset="0"/>
              </a:rPr>
              <a:t>REQUIREMENTS</a:t>
            </a:r>
          </a:p>
        </p:txBody>
      </p:sp>
    </p:spTree>
    <p:extLst>
      <p:ext uri="{BB962C8B-B14F-4D97-AF65-F5344CB8AC3E}">
        <p14:creationId xmlns:p14="http://schemas.microsoft.com/office/powerpoint/2010/main" val="4083628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latin typeface="Bahnschrift Condensed" pitchFamily="34" charset="0"/>
              </a:rPr>
              <a:t>The </a:t>
            </a:r>
            <a:r>
              <a:rPr lang="en-US" b="1" dirty="0">
                <a:latin typeface="Bahnschrift Condensed" pitchFamily="34" charset="0"/>
              </a:rPr>
              <a:t>Student Grade Management System</a:t>
            </a:r>
            <a:r>
              <a:rPr lang="en-US" dirty="0">
                <a:latin typeface="Bahnschrift Condensed" pitchFamily="34" charset="0"/>
              </a:rPr>
              <a:t> is a C-based project designed to store and manage student academic records efficiently.</a:t>
            </a:r>
            <a:br>
              <a:rPr lang="en-US" dirty="0">
                <a:latin typeface="Bahnschrift Condensed" pitchFamily="34" charset="0"/>
              </a:rPr>
            </a:br>
            <a:r>
              <a:rPr lang="en-US" dirty="0">
                <a:latin typeface="Bahnschrift Condensed" pitchFamily="34" charset="0"/>
              </a:rPr>
              <a:t>It allows the user to enter student information such as </a:t>
            </a:r>
            <a:r>
              <a:rPr lang="en-US" i="1" dirty="0">
                <a:latin typeface="Bahnschrift Condensed" pitchFamily="34" charset="0"/>
              </a:rPr>
              <a:t>roll number, name, department, year, section,</a:t>
            </a:r>
            <a:r>
              <a:rPr lang="en-US" dirty="0">
                <a:latin typeface="Bahnschrift Condensed" pitchFamily="34" charset="0"/>
              </a:rPr>
              <a:t> and </a:t>
            </a:r>
            <a:r>
              <a:rPr lang="en-US" i="1" dirty="0">
                <a:latin typeface="Bahnschrift Condensed" pitchFamily="34" charset="0"/>
              </a:rPr>
              <a:t>marks of five subjects</a:t>
            </a:r>
            <a:r>
              <a:rPr lang="en-US" dirty="0">
                <a:latin typeface="Bahnschrift Condensed" pitchFamily="34" charset="0"/>
              </a:rPr>
              <a:t>.</a:t>
            </a:r>
          </a:p>
          <a:p>
            <a:r>
              <a:rPr lang="en-US" dirty="0">
                <a:latin typeface="Bahnschrift Condensed" pitchFamily="34" charset="0"/>
              </a:rPr>
              <a:t>The system calculates:</a:t>
            </a:r>
          </a:p>
          <a:p>
            <a:r>
              <a:rPr lang="en-US" dirty="0">
                <a:latin typeface="Bahnschrift Condensed" pitchFamily="34" charset="0"/>
              </a:rPr>
              <a:t>Total marks</a:t>
            </a:r>
          </a:p>
          <a:p>
            <a:r>
              <a:rPr lang="en-US" dirty="0">
                <a:latin typeface="Bahnschrift Condensed" pitchFamily="34" charset="0"/>
              </a:rPr>
              <a:t>Percentage</a:t>
            </a:r>
          </a:p>
          <a:p>
            <a:r>
              <a:rPr lang="en-US" dirty="0">
                <a:latin typeface="Bahnschrift Condensed" pitchFamily="34" charset="0"/>
              </a:rPr>
              <a:t>Grade for each subject</a:t>
            </a:r>
          </a:p>
          <a:p>
            <a:r>
              <a:rPr lang="en-US" dirty="0">
                <a:latin typeface="Bahnschrift Condensed" pitchFamily="34" charset="0"/>
              </a:rPr>
              <a:t>SGPA</a:t>
            </a:r>
          </a:p>
          <a:p>
            <a:r>
              <a:rPr lang="en-US" dirty="0">
                <a:latin typeface="Bahnschrift Condensed" pitchFamily="34" charset="0"/>
              </a:rPr>
              <a:t>Grades are assigned automatically using </a:t>
            </a:r>
            <a:r>
              <a:rPr lang="en-US" b="1" dirty="0">
                <a:latin typeface="Bahnschrift Condensed" pitchFamily="34" charset="0"/>
              </a:rPr>
              <a:t>if-else conditions</a:t>
            </a:r>
            <a:r>
              <a:rPr lang="en-US" dirty="0">
                <a:latin typeface="Bahnschrift Condensed" pitchFamily="34" charset="0"/>
              </a:rPr>
              <a:t> based on predefined academic criteria.</a:t>
            </a:r>
          </a:p>
          <a:p>
            <a:endParaRPr lang="en-IN" dirty="0"/>
          </a:p>
        </p:txBody>
      </p:sp>
      <p:sp>
        <p:nvSpPr>
          <p:cNvPr id="2" name="Title 1"/>
          <p:cNvSpPr>
            <a:spLocks noGrp="1"/>
          </p:cNvSpPr>
          <p:nvPr>
            <p:ph type="title"/>
          </p:nvPr>
        </p:nvSpPr>
        <p:spPr>
          <a:xfrm>
            <a:off x="2339752" y="274638"/>
            <a:ext cx="6347048" cy="1138138"/>
          </a:xfrm>
        </p:spPr>
        <p:txBody>
          <a:bodyPr/>
          <a:lstStyle/>
          <a:p>
            <a:r>
              <a:rPr lang="en-IN" dirty="0">
                <a:solidFill>
                  <a:schemeClr val="accent1"/>
                </a:solidFill>
                <a:latin typeface="Algerian" pitchFamily="82" charset="0"/>
              </a:rPr>
              <a:t>INTRODUCTION</a:t>
            </a:r>
          </a:p>
        </p:txBody>
      </p:sp>
    </p:spTree>
    <p:extLst>
      <p:ext uri="{BB962C8B-B14F-4D97-AF65-F5344CB8AC3E}">
        <p14:creationId xmlns:p14="http://schemas.microsoft.com/office/powerpoint/2010/main" val="4109935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48681"/>
            <a:ext cx="9144000" cy="6309319"/>
          </a:xfrm>
        </p:spPr>
        <p:txBody>
          <a:bodyPr>
            <a:normAutofit fontScale="40000" lnSpcReduction="20000"/>
          </a:bodyPr>
          <a:lstStyle/>
          <a:p>
            <a:r>
              <a:rPr lang="en-IN" b="1" dirty="0"/>
              <a:t>ALGORITHM: Student Grade Sheet Management System</a:t>
            </a:r>
          </a:p>
          <a:p>
            <a:r>
              <a:rPr lang="en-IN" sz="3400" b="1" u="sng" dirty="0"/>
              <a:t>1. INITIALIZATION</a:t>
            </a:r>
          </a:p>
          <a:p>
            <a:r>
              <a:rPr lang="en-IN" dirty="0"/>
              <a:t>Create data structures for students, courses, and grades</a:t>
            </a:r>
          </a:p>
          <a:p>
            <a:r>
              <a:rPr lang="en-IN" dirty="0"/>
              <a:t>Set up grade calculation parameters (weights, grade boundaries)</a:t>
            </a:r>
          </a:p>
          <a:p>
            <a:endParaRPr lang="en-IN" dirty="0"/>
          </a:p>
          <a:p>
            <a:r>
              <a:rPr lang="en-IN" sz="2900" b="1" u="sng" dirty="0"/>
              <a:t>2. STUDENT MANAGEMENT MODULE</a:t>
            </a:r>
            <a:br>
              <a:rPr lang="en-IN" b="1" dirty="0"/>
            </a:br>
            <a:r>
              <a:rPr lang="en-IN" dirty="0"/>
              <a:t>Input: Student details (ID, Name, Roll Number, Batch)</a:t>
            </a:r>
            <a:br>
              <a:rPr lang="en-IN" dirty="0"/>
            </a:br>
            <a:r>
              <a:rPr lang="en-IN" dirty="0"/>
              <a:t>Process:</a:t>
            </a:r>
            <a:br>
              <a:rPr lang="en-IN" dirty="0"/>
            </a:br>
            <a:r>
              <a:rPr lang="en-IN" dirty="0"/>
              <a:t>a. Validate student information</a:t>
            </a:r>
            <a:br>
              <a:rPr lang="en-IN" dirty="0"/>
            </a:br>
            <a:r>
              <a:rPr lang="en-IN" dirty="0"/>
              <a:t>b. Check for duplicate entries</a:t>
            </a:r>
            <a:br>
              <a:rPr lang="en-IN" dirty="0"/>
            </a:br>
            <a:r>
              <a:rPr lang="en-IN" dirty="0"/>
              <a:t>c. Store in student database</a:t>
            </a:r>
            <a:br>
              <a:rPr lang="en-IN" dirty="0"/>
            </a:br>
            <a:r>
              <a:rPr lang="en-IN" dirty="0"/>
              <a:t>Output: Confirmation message</a:t>
            </a:r>
          </a:p>
          <a:p>
            <a:endParaRPr lang="en-IN" b="1" dirty="0"/>
          </a:p>
          <a:p>
            <a:r>
              <a:rPr lang="en-IN" sz="2900" b="1" u="sng" dirty="0"/>
              <a:t>3. COURSE MANAGEMENT MODULE</a:t>
            </a:r>
            <a:br>
              <a:rPr lang="en-IN" sz="2900" b="1" i="1" u="sng" dirty="0">
                <a:effectLst>
                  <a:outerShdw blurRad="38100" dist="38100" dir="2700000" algn="tl">
                    <a:srgbClr val="000000">
                      <a:alpha val="43137"/>
                    </a:srgbClr>
                  </a:outerShdw>
                </a:effectLst>
              </a:rPr>
            </a:br>
            <a:r>
              <a:rPr lang="en-IN" dirty="0"/>
              <a:t>Input: Course details (Code, Name, Credits, Max Marks)</a:t>
            </a:r>
            <a:br>
              <a:rPr lang="en-IN" dirty="0"/>
            </a:br>
            <a:r>
              <a:rPr lang="en-IN" dirty="0"/>
              <a:t>Process:</a:t>
            </a:r>
            <a:br>
              <a:rPr lang="en-IN" dirty="0"/>
            </a:br>
            <a:r>
              <a:rPr lang="en-IN" dirty="0"/>
              <a:t>a. Validate course information</a:t>
            </a:r>
            <a:br>
              <a:rPr lang="en-IN" dirty="0"/>
            </a:br>
            <a:r>
              <a:rPr lang="en-IN" dirty="0"/>
              <a:t>b. Store in course database</a:t>
            </a:r>
            <a:br>
              <a:rPr lang="en-IN" dirty="0"/>
            </a:br>
            <a:r>
              <a:rPr lang="en-IN" dirty="0"/>
              <a:t>Output: Course registered successfully</a:t>
            </a:r>
          </a:p>
          <a:p>
            <a:endParaRPr lang="en-IN" b="1" dirty="0"/>
          </a:p>
          <a:p>
            <a:r>
              <a:rPr lang="en-IN" sz="3000" b="1" u="sng" dirty="0"/>
              <a:t>4. GRADE ENTRY MODULE</a:t>
            </a:r>
            <a:br>
              <a:rPr lang="en-IN" sz="3500" b="1" dirty="0"/>
            </a:br>
            <a:r>
              <a:rPr lang="en-IN" dirty="0"/>
              <a:t>Input: Student ID, Course Code, Marks obtained</a:t>
            </a:r>
            <a:br>
              <a:rPr lang="en-IN" dirty="0"/>
            </a:br>
            <a:r>
              <a:rPr lang="en-IN" dirty="0"/>
              <a:t>Process:</a:t>
            </a:r>
            <a:br>
              <a:rPr lang="en-IN" dirty="0"/>
            </a:br>
            <a:r>
              <a:rPr lang="en-IN" dirty="0"/>
              <a:t>a. Verify student and course exist</a:t>
            </a:r>
            <a:br>
              <a:rPr lang="en-IN" dirty="0"/>
            </a:br>
            <a:r>
              <a:rPr lang="en-IN" dirty="0"/>
              <a:t>b. Validate marks (0 ≤ marks ≤ </a:t>
            </a:r>
            <a:r>
              <a:rPr lang="en-IN" dirty="0" err="1"/>
              <a:t>max_marks</a:t>
            </a:r>
            <a:r>
              <a:rPr lang="en-IN" dirty="0"/>
              <a:t>)</a:t>
            </a:r>
            <a:br>
              <a:rPr lang="en-IN" dirty="0"/>
            </a:br>
            <a:r>
              <a:rPr lang="en-IN" dirty="0"/>
              <a:t>c. Calculate letter grade based on marking scheme:</a:t>
            </a:r>
          </a:p>
          <a:p>
            <a:pPr lvl="1"/>
            <a:r>
              <a:rPr lang="en-IN" dirty="0"/>
              <a:t>90–100: A+</a:t>
            </a:r>
          </a:p>
          <a:p>
            <a:pPr lvl="1"/>
            <a:r>
              <a:rPr lang="en-IN" dirty="0"/>
              <a:t>80–89: A</a:t>
            </a:r>
          </a:p>
          <a:p>
            <a:pPr lvl="1"/>
            <a:r>
              <a:rPr lang="en-IN" dirty="0"/>
              <a:t>70–79: B+</a:t>
            </a:r>
          </a:p>
          <a:p>
            <a:pPr lvl="1"/>
            <a:r>
              <a:rPr lang="en-IN" dirty="0"/>
              <a:t>60–69: B</a:t>
            </a:r>
          </a:p>
          <a:p>
            <a:pPr lvl="1"/>
            <a:r>
              <a:rPr lang="en-IN" dirty="0"/>
              <a:t>50–59: C</a:t>
            </a:r>
          </a:p>
          <a:p>
            <a:pPr lvl="1"/>
            <a:r>
              <a:rPr lang="en-IN" dirty="0"/>
              <a:t>40–49: D</a:t>
            </a:r>
          </a:p>
          <a:p>
            <a:pPr lvl="1"/>
            <a:r>
              <a:rPr lang="en-IN" dirty="0"/>
              <a:t>Below 40: F</a:t>
            </a:r>
            <a:br>
              <a:rPr lang="en-IN" dirty="0"/>
            </a:br>
            <a:r>
              <a:rPr lang="en-IN" dirty="0"/>
              <a:t>d. Calculate grade points (A+=10, A=9, B+=8, B=7, C=6, D=5, F=0)</a:t>
            </a:r>
            <a:br>
              <a:rPr lang="en-IN" dirty="0"/>
            </a:br>
            <a:r>
              <a:rPr lang="en-IN" dirty="0"/>
              <a:t>e. Store grade record</a:t>
            </a:r>
            <a:br>
              <a:rPr lang="en-IN" dirty="0"/>
            </a:br>
            <a:r>
              <a:rPr lang="en-IN" dirty="0"/>
              <a:t>Output: Grade recorded successfully</a:t>
            </a:r>
          </a:p>
          <a:p>
            <a:endParaRPr lang="en-IN" b="1" dirty="0"/>
          </a:p>
        </p:txBody>
      </p:sp>
      <p:sp>
        <p:nvSpPr>
          <p:cNvPr id="2" name="Title 1"/>
          <p:cNvSpPr>
            <a:spLocks noGrp="1"/>
          </p:cNvSpPr>
          <p:nvPr>
            <p:ph type="title"/>
          </p:nvPr>
        </p:nvSpPr>
        <p:spPr>
          <a:xfrm>
            <a:off x="2195736" y="-243407"/>
            <a:ext cx="6491064" cy="792088"/>
          </a:xfrm>
        </p:spPr>
        <p:txBody>
          <a:bodyPr>
            <a:normAutofit/>
          </a:bodyPr>
          <a:lstStyle/>
          <a:p>
            <a:r>
              <a:rPr lang="en-IN" dirty="0">
                <a:solidFill>
                  <a:schemeClr val="accent1"/>
                </a:solidFill>
                <a:latin typeface="Algerian" pitchFamily="82" charset="0"/>
              </a:rPr>
              <a:t>ALGORITHM</a:t>
            </a:r>
          </a:p>
        </p:txBody>
      </p:sp>
    </p:spTree>
    <p:extLst>
      <p:ext uri="{BB962C8B-B14F-4D97-AF65-F5344CB8AC3E}">
        <p14:creationId xmlns:p14="http://schemas.microsoft.com/office/powerpoint/2010/main" val="732434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36C8D3-E401-0CA7-DA1D-03383B3B286F}"/>
              </a:ext>
            </a:extLst>
          </p:cNvPr>
          <p:cNvSpPr>
            <a:spLocks noGrp="1"/>
          </p:cNvSpPr>
          <p:nvPr>
            <p:ph idx="1"/>
          </p:nvPr>
        </p:nvSpPr>
        <p:spPr>
          <a:xfrm>
            <a:off x="0" y="0"/>
            <a:ext cx="9144000" cy="6858000"/>
          </a:xfrm>
        </p:spPr>
        <p:txBody>
          <a:bodyPr>
            <a:normAutofit fontScale="47500" lnSpcReduction="20000"/>
          </a:bodyPr>
          <a:lstStyle/>
          <a:p>
            <a:r>
              <a:rPr lang="en-IN" sz="2500" b="1" u="sng" dirty="0"/>
              <a:t>5. GPA CALCULATION MODULE</a:t>
            </a:r>
            <a:br>
              <a:rPr lang="en-IN" sz="2500" b="1" u="sng" dirty="0"/>
            </a:br>
            <a:r>
              <a:rPr lang="en-IN" dirty="0"/>
              <a:t>Input: Student ID, Semester/Year</a:t>
            </a:r>
            <a:br>
              <a:rPr lang="en-IN" dirty="0"/>
            </a:br>
            <a:r>
              <a:rPr lang="en-IN" dirty="0"/>
              <a:t>Process:</a:t>
            </a:r>
            <a:br>
              <a:rPr lang="en-IN" dirty="0"/>
            </a:br>
            <a:r>
              <a:rPr lang="en-IN" dirty="0"/>
              <a:t>a. Retrieve all grades for student in specified period</a:t>
            </a:r>
            <a:br>
              <a:rPr lang="en-IN" dirty="0"/>
            </a:br>
            <a:r>
              <a:rPr lang="en-IN" dirty="0"/>
              <a:t>b. Calculate weighted GPA:</a:t>
            </a:r>
            <a:br>
              <a:rPr lang="en-IN" dirty="0"/>
            </a:br>
            <a:r>
              <a:rPr lang="en-IN" dirty="0"/>
              <a:t>GPA = </a:t>
            </a:r>
            <a:r>
              <a:rPr lang="el-GR" dirty="0"/>
              <a:t>Σ(</a:t>
            </a:r>
            <a:r>
              <a:rPr lang="en-IN" dirty="0" err="1"/>
              <a:t>Grade_Points</a:t>
            </a:r>
            <a:r>
              <a:rPr lang="en-IN" dirty="0"/>
              <a:t> × Credits) / </a:t>
            </a:r>
            <a:r>
              <a:rPr lang="el-GR" dirty="0"/>
              <a:t>Σ(</a:t>
            </a:r>
            <a:r>
              <a:rPr lang="en-IN" dirty="0"/>
              <a:t>Credits)</a:t>
            </a:r>
            <a:br>
              <a:rPr lang="en-IN" dirty="0"/>
            </a:br>
            <a:r>
              <a:rPr lang="en-IN" dirty="0"/>
              <a:t>c. Round to 2 decimal places</a:t>
            </a:r>
            <a:br>
              <a:rPr lang="en-IN" dirty="0"/>
            </a:br>
            <a:r>
              <a:rPr lang="en-IN" dirty="0"/>
              <a:t>Output: Student GPA</a:t>
            </a:r>
          </a:p>
          <a:p>
            <a:r>
              <a:rPr lang="en-IN" sz="2500" b="1" u="sng" dirty="0"/>
              <a:t>6. GRADE SHEET GENERATION MODULE</a:t>
            </a:r>
            <a:br>
              <a:rPr lang="en-IN" sz="2500" b="1" u="sng" dirty="0"/>
            </a:br>
            <a:r>
              <a:rPr lang="en-IN" dirty="0"/>
              <a:t>Input: Student ID</a:t>
            </a:r>
            <a:br>
              <a:rPr lang="en-IN" dirty="0"/>
            </a:br>
            <a:r>
              <a:rPr lang="en-IN" dirty="0"/>
              <a:t>Process:</a:t>
            </a:r>
            <a:br>
              <a:rPr lang="en-IN" dirty="0"/>
            </a:br>
            <a:r>
              <a:rPr lang="en-IN" dirty="0"/>
              <a:t>a. Retrieve student details</a:t>
            </a:r>
            <a:br>
              <a:rPr lang="en-IN" dirty="0"/>
            </a:br>
            <a:r>
              <a:rPr lang="en-IN" dirty="0"/>
              <a:t>b. Retrieve all course grades</a:t>
            </a:r>
            <a:br>
              <a:rPr lang="en-IN" dirty="0"/>
            </a:br>
            <a:r>
              <a:rPr lang="en-IN" dirty="0"/>
              <a:t>c. Calculate semester-wise GPA</a:t>
            </a:r>
            <a:br>
              <a:rPr lang="en-IN" dirty="0"/>
            </a:br>
            <a:r>
              <a:rPr lang="en-IN" dirty="0"/>
              <a:t>d. Calculate cumulative GPA (CGPA)</a:t>
            </a:r>
            <a:br>
              <a:rPr lang="en-IN" dirty="0"/>
            </a:br>
            <a:r>
              <a:rPr lang="en-IN" dirty="0"/>
              <a:t>e. Format grade sheet with:</a:t>
            </a:r>
          </a:p>
          <a:p>
            <a:pPr lvl="1"/>
            <a:r>
              <a:rPr lang="en-IN" dirty="0"/>
              <a:t>Student information header</a:t>
            </a:r>
          </a:p>
          <a:p>
            <a:pPr lvl="1"/>
            <a:r>
              <a:rPr lang="en-IN" dirty="0"/>
              <a:t>Course-wise marks table</a:t>
            </a:r>
          </a:p>
          <a:p>
            <a:pPr lvl="1"/>
            <a:r>
              <a:rPr lang="en-IN" dirty="0"/>
              <a:t>Grade statistics</a:t>
            </a:r>
          </a:p>
          <a:p>
            <a:pPr lvl="1"/>
            <a:r>
              <a:rPr lang="en-IN" dirty="0"/>
              <a:t>CGPA and overall performance</a:t>
            </a:r>
            <a:br>
              <a:rPr lang="en-IN" dirty="0"/>
            </a:br>
            <a:r>
              <a:rPr lang="en-IN" dirty="0"/>
              <a:t>Output: Formatted grade sheet</a:t>
            </a:r>
          </a:p>
          <a:p>
            <a:r>
              <a:rPr lang="en-IN" sz="2500" b="1" u="sng" dirty="0"/>
              <a:t>7. REPORT GENERATION MODULE</a:t>
            </a:r>
            <a:br>
              <a:rPr lang="en-IN" sz="2500" b="1" u="sng" dirty="0"/>
            </a:br>
            <a:r>
              <a:rPr lang="en-IN" dirty="0"/>
              <a:t>Input: Batch number or Course code</a:t>
            </a:r>
            <a:br>
              <a:rPr lang="en-IN" dirty="0"/>
            </a:br>
            <a:r>
              <a:rPr lang="en-IN" dirty="0"/>
              <a:t>Process:</a:t>
            </a:r>
            <a:br>
              <a:rPr lang="en-IN" dirty="0"/>
            </a:br>
            <a:r>
              <a:rPr lang="en-IN" dirty="0"/>
              <a:t>a. Retrieve relevant student grades</a:t>
            </a:r>
            <a:br>
              <a:rPr lang="en-IN" dirty="0"/>
            </a:br>
            <a:r>
              <a:rPr lang="en-IN" dirty="0"/>
              <a:t>b. Calculate statistics:</a:t>
            </a:r>
          </a:p>
          <a:p>
            <a:pPr lvl="1"/>
            <a:r>
              <a:rPr lang="en-IN" dirty="0"/>
              <a:t>Average marks</a:t>
            </a:r>
          </a:p>
          <a:p>
            <a:pPr lvl="1"/>
            <a:r>
              <a:rPr lang="en-IN" dirty="0"/>
              <a:t>Highest/Lowest scores</a:t>
            </a:r>
          </a:p>
          <a:p>
            <a:pPr lvl="1"/>
            <a:r>
              <a:rPr lang="en-IN" dirty="0"/>
              <a:t>Pass percentage</a:t>
            </a:r>
          </a:p>
          <a:p>
            <a:pPr lvl="1"/>
            <a:r>
              <a:rPr lang="en-IN" dirty="0"/>
              <a:t>Grade distribution</a:t>
            </a:r>
            <a:br>
              <a:rPr lang="en-IN" dirty="0"/>
            </a:br>
            <a:r>
              <a:rPr lang="en-IN" dirty="0"/>
              <a:t>c. Sort students by performance</a:t>
            </a:r>
            <a:br>
              <a:rPr lang="en-IN" dirty="0"/>
            </a:br>
            <a:r>
              <a:rPr lang="en-IN" dirty="0"/>
              <a:t>Output: Analytical report</a:t>
            </a:r>
          </a:p>
          <a:p>
            <a:r>
              <a:rPr lang="en-IN" sz="2500" b="1" u="sng" dirty="0"/>
              <a:t>8. SEARCH AND FILTER MODULE</a:t>
            </a:r>
            <a:br>
              <a:rPr lang="en-IN" sz="2500" b="1" u="sng" dirty="0"/>
            </a:br>
            <a:r>
              <a:rPr lang="en-IN" dirty="0"/>
              <a:t>Input: Search criteria (Name, Roll No, Batch, Grade)</a:t>
            </a:r>
            <a:br>
              <a:rPr lang="en-IN" dirty="0"/>
            </a:br>
            <a:r>
              <a:rPr lang="en-IN" dirty="0"/>
              <a:t>Process:</a:t>
            </a:r>
            <a:br>
              <a:rPr lang="en-IN" dirty="0"/>
            </a:br>
            <a:r>
              <a:rPr lang="en-IN" dirty="0"/>
              <a:t>a. Parse search query</a:t>
            </a:r>
            <a:br>
              <a:rPr lang="en-IN" dirty="0"/>
            </a:br>
            <a:r>
              <a:rPr lang="en-IN" dirty="0"/>
              <a:t>b. Filter database based on criteria</a:t>
            </a:r>
            <a:br>
              <a:rPr lang="en-IN" dirty="0"/>
            </a:br>
            <a:r>
              <a:rPr lang="en-IN" dirty="0"/>
              <a:t>c. Sort results</a:t>
            </a:r>
            <a:br>
              <a:rPr lang="en-IN" dirty="0"/>
            </a:br>
            <a:r>
              <a:rPr lang="en-IN" dirty="0"/>
              <a:t>Output: Matching records</a:t>
            </a:r>
          </a:p>
          <a:p>
            <a:endParaRPr lang="en-IN" dirty="0"/>
          </a:p>
        </p:txBody>
      </p:sp>
      <p:sp>
        <p:nvSpPr>
          <p:cNvPr id="3" name="Title 2">
            <a:extLst>
              <a:ext uri="{FF2B5EF4-FFF2-40B4-BE49-F238E27FC236}">
                <a16:creationId xmlns:a16="http://schemas.microsoft.com/office/drawing/2014/main" id="{1EAC50F6-F29C-3269-6276-9A24895E6DC2}"/>
              </a:ext>
            </a:extLst>
          </p:cNvPr>
          <p:cNvSpPr>
            <a:spLocks noGrp="1"/>
          </p:cNvSpPr>
          <p:nvPr>
            <p:ph type="title"/>
          </p:nvPr>
        </p:nvSpPr>
        <p:spPr>
          <a:xfrm flipH="1" flipV="1">
            <a:off x="8686799" y="228918"/>
            <a:ext cx="45719" cy="45719"/>
          </a:xfrm>
        </p:spPr>
        <p:txBody>
          <a:bodyPr>
            <a:normAutofit fontScale="90000"/>
          </a:bodyPr>
          <a:lstStyle/>
          <a:p>
            <a:endParaRPr lang="en-IN" dirty="0"/>
          </a:p>
        </p:txBody>
      </p:sp>
    </p:spTree>
    <p:extLst>
      <p:ext uri="{BB962C8B-B14F-4D97-AF65-F5344CB8AC3E}">
        <p14:creationId xmlns:p14="http://schemas.microsoft.com/office/powerpoint/2010/main" val="462721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4FFB37-FB99-C8B3-9BC5-14BFB9004668}"/>
              </a:ext>
            </a:extLst>
          </p:cNvPr>
          <p:cNvSpPr>
            <a:spLocks noGrp="1"/>
          </p:cNvSpPr>
          <p:nvPr>
            <p:ph idx="1"/>
          </p:nvPr>
        </p:nvSpPr>
        <p:spPr>
          <a:xfrm>
            <a:off x="0" y="0"/>
            <a:ext cx="9143999" cy="6865954"/>
          </a:xfrm>
        </p:spPr>
        <p:txBody>
          <a:bodyPr>
            <a:normAutofit/>
          </a:bodyPr>
          <a:lstStyle/>
          <a:p>
            <a:r>
              <a:rPr lang="en-IN" sz="1800" b="1" u="sng" dirty="0"/>
              <a:t>9. UPDATE MODULE</a:t>
            </a:r>
            <a:br>
              <a:rPr lang="en-IN" sz="1800" b="1" u="sng" dirty="0"/>
            </a:br>
            <a:r>
              <a:rPr lang="en-IN" sz="1600" dirty="0"/>
              <a:t>Input: Record ID, Updated information</a:t>
            </a:r>
            <a:br>
              <a:rPr lang="en-IN" sz="1600" dirty="0"/>
            </a:br>
            <a:r>
              <a:rPr lang="en-IN" sz="1600" dirty="0"/>
              <a:t>Process:</a:t>
            </a:r>
            <a:br>
              <a:rPr lang="en-IN" sz="1600" dirty="0"/>
            </a:br>
            <a:r>
              <a:rPr lang="en-IN" sz="1600" dirty="0"/>
              <a:t>a. Verify record exists</a:t>
            </a:r>
            <a:br>
              <a:rPr lang="en-IN" sz="1600" dirty="0"/>
            </a:br>
            <a:r>
              <a:rPr lang="en-IN" sz="1600" dirty="0"/>
              <a:t>b. Validate new information</a:t>
            </a:r>
            <a:br>
              <a:rPr lang="en-IN" sz="1600" dirty="0"/>
            </a:br>
            <a:r>
              <a:rPr lang="en-IN" sz="1600" dirty="0"/>
              <a:t>c. Update database</a:t>
            </a:r>
            <a:br>
              <a:rPr lang="en-IN" sz="1600" dirty="0"/>
            </a:br>
            <a:r>
              <a:rPr lang="en-IN" sz="1600" dirty="0"/>
              <a:t>d. Recalculate dependent values (GPA, rankings)</a:t>
            </a:r>
            <a:br>
              <a:rPr lang="en-IN" sz="1600" dirty="0"/>
            </a:br>
            <a:r>
              <a:rPr lang="en-IN" sz="1600" dirty="0"/>
              <a:t>Output: Update confirmation</a:t>
            </a:r>
          </a:p>
          <a:p>
            <a:r>
              <a:rPr lang="en-IN" sz="1800" b="1" u="sng" dirty="0"/>
              <a:t>10. DATA VALIDATION MODULE (Called by other modules)</a:t>
            </a:r>
            <a:br>
              <a:rPr lang="en-IN" sz="1800" b="1" u="sng" dirty="0"/>
            </a:br>
            <a:r>
              <a:rPr lang="en-IN" sz="1600" dirty="0"/>
              <a:t>Process:</a:t>
            </a:r>
            <a:br>
              <a:rPr lang="en-IN" sz="1600" dirty="0"/>
            </a:br>
            <a:r>
              <a:rPr lang="en-IN" sz="1600" dirty="0"/>
              <a:t>a. Check data types</a:t>
            </a:r>
            <a:br>
              <a:rPr lang="en-IN" sz="1600" dirty="0"/>
            </a:br>
            <a:r>
              <a:rPr lang="en-IN" sz="1600" dirty="0"/>
              <a:t>b. Verify value ranges</a:t>
            </a:r>
            <a:br>
              <a:rPr lang="en-IN" sz="1600" dirty="0"/>
            </a:br>
            <a:r>
              <a:rPr lang="en-IN" sz="1600" dirty="0"/>
              <a:t>c. Ensure referential integrity</a:t>
            </a:r>
            <a:br>
              <a:rPr lang="en-IN" sz="1600" dirty="0"/>
            </a:br>
            <a:r>
              <a:rPr lang="en-IN" sz="1600" dirty="0"/>
              <a:t>d. Prevent SQL injection</a:t>
            </a:r>
            <a:br>
              <a:rPr lang="en-IN" sz="1600" dirty="0"/>
            </a:br>
            <a:r>
              <a:rPr lang="en-IN" sz="1600" dirty="0"/>
              <a:t>Output: Valid/Invalid flag with error messages</a:t>
            </a:r>
          </a:p>
          <a:p>
            <a:endParaRPr lang="en-IN" sz="1600" dirty="0"/>
          </a:p>
        </p:txBody>
      </p:sp>
      <p:sp>
        <p:nvSpPr>
          <p:cNvPr id="3" name="Title 2">
            <a:extLst>
              <a:ext uri="{FF2B5EF4-FFF2-40B4-BE49-F238E27FC236}">
                <a16:creationId xmlns:a16="http://schemas.microsoft.com/office/drawing/2014/main" id="{BE3FFBBF-BD3D-483F-9073-89EA143BE539}"/>
              </a:ext>
            </a:extLst>
          </p:cNvPr>
          <p:cNvSpPr>
            <a:spLocks noGrp="1"/>
          </p:cNvSpPr>
          <p:nvPr>
            <p:ph type="title"/>
          </p:nvPr>
        </p:nvSpPr>
        <p:spPr>
          <a:xfrm flipH="1" flipV="1">
            <a:off x="8686799" y="228918"/>
            <a:ext cx="45719" cy="45719"/>
          </a:xfrm>
        </p:spPr>
        <p:txBody>
          <a:bodyPr>
            <a:normAutofit fontScale="90000"/>
          </a:bodyPr>
          <a:lstStyle/>
          <a:p>
            <a:endParaRPr lang="en-IN" dirty="0"/>
          </a:p>
        </p:txBody>
      </p:sp>
    </p:spTree>
    <p:extLst>
      <p:ext uri="{BB962C8B-B14F-4D97-AF65-F5344CB8AC3E}">
        <p14:creationId xmlns:p14="http://schemas.microsoft.com/office/powerpoint/2010/main" val="2282198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7620000" cy="5257800"/>
          </a:xfrm>
        </p:spPr>
        <p:txBody>
          <a:bodyPr/>
          <a:lstStyle/>
          <a:p>
            <a:pPr marL="114300" indent="0">
              <a:buNone/>
            </a:pPr>
            <a:r>
              <a:rPr lang="en-IN" dirty="0"/>
              <a:t>                                    </a:t>
            </a:r>
          </a:p>
        </p:txBody>
      </p:sp>
      <p:sp>
        <p:nvSpPr>
          <p:cNvPr id="2" name="Title 1"/>
          <p:cNvSpPr>
            <a:spLocks noGrp="1"/>
          </p:cNvSpPr>
          <p:nvPr>
            <p:ph type="title"/>
          </p:nvPr>
        </p:nvSpPr>
        <p:spPr/>
        <p:txBody>
          <a:bodyPr/>
          <a:lstStyle/>
          <a:p>
            <a:pPr algn="ctr"/>
            <a:r>
              <a:rPr lang="en-IN" dirty="0">
                <a:latin typeface="Algerian" pitchFamily="82" charset="0"/>
              </a:rPr>
              <a:t> </a:t>
            </a:r>
            <a:r>
              <a:rPr lang="en-IN" dirty="0">
                <a:solidFill>
                  <a:schemeClr val="accent1"/>
                </a:solidFill>
                <a:latin typeface="Algerian" pitchFamily="82" charset="0"/>
              </a:rPr>
              <a:t>FLOWCHART</a:t>
            </a:r>
          </a:p>
        </p:txBody>
      </p:sp>
      <p:sp>
        <p:nvSpPr>
          <p:cNvPr id="7" name="Oval 6"/>
          <p:cNvSpPr/>
          <p:nvPr/>
        </p:nvSpPr>
        <p:spPr>
          <a:xfrm>
            <a:off x="3563888" y="1412776"/>
            <a:ext cx="1440160"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START</a:t>
            </a:r>
          </a:p>
        </p:txBody>
      </p:sp>
      <p:sp>
        <p:nvSpPr>
          <p:cNvPr id="11" name="Down Arrow 10"/>
          <p:cNvSpPr/>
          <p:nvPr/>
        </p:nvSpPr>
        <p:spPr>
          <a:xfrm>
            <a:off x="4211960" y="1988840"/>
            <a:ext cx="216024" cy="43204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Parallelogram 11"/>
          <p:cNvSpPr/>
          <p:nvPr/>
        </p:nvSpPr>
        <p:spPr>
          <a:xfrm>
            <a:off x="3563888" y="2541375"/>
            <a:ext cx="1512168" cy="720080"/>
          </a:xfrm>
          <a:prstGeom prst="parallelogram">
            <a:avLst>
              <a:gd name="adj" fmla="val 2370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Input Marks</a:t>
            </a:r>
          </a:p>
        </p:txBody>
      </p:sp>
      <p:sp>
        <p:nvSpPr>
          <p:cNvPr id="13" name="Down Arrow 12"/>
          <p:cNvSpPr/>
          <p:nvPr/>
        </p:nvSpPr>
        <p:spPr>
          <a:xfrm>
            <a:off x="4211960" y="3356992"/>
            <a:ext cx="216024" cy="43204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3635896" y="4005064"/>
            <a:ext cx="1368152" cy="72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Calculate total and average</a:t>
            </a:r>
          </a:p>
        </p:txBody>
      </p:sp>
      <p:sp>
        <p:nvSpPr>
          <p:cNvPr id="17" name="Down Arrow 16"/>
          <p:cNvSpPr/>
          <p:nvPr/>
        </p:nvSpPr>
        <p:spPr>
          <a:xfrm>
            <a:off x="4211960" y="4862467"/>
            <a:ext cx="216024" cy="43204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Diamond 17"/>
          <p:cNvSpPr/>
          <p:nvPr/>
        </p:nvSpPr>
        <p:spPr>
          <a:xfrm>
            <a:off x="3491880" y="5373216"/>
            <a:ext cx="1567138" cy="1296144"/>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GPA check</a:t>
            </a:r>
          </a:p>
        </p:txBody>
      </p:sp>
      <p:sp>
        <p:nvSpPr>
          <p:cNvPr id="19" name="Right Arrow 18"/>
          <p:cNvSpPr/>
          <p:nvPr/>
        </p:nvSpPr>
        <p:spPr>
          <a:xfrm>
            <a:off x="5220072" y="5873620"/>
            <a:ext cx="432048" cy="219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Parallelogram 19"/>
          <p:cNvSpPr/>
          <p:nvPr/>
        </p:nvSpPr>
        <p:spPr>
          <a:xfrm>
            <a:off x="5652120" y="5586806"/>
            <a:ext cx="1277888" cy="866530"/>
          </a:xfrm>
          <a:prstGeom prst="parallelogram">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Display result</a:t>
            </a:r>
          </a:p>
        </p:txBody>
      </p:sp>
      <p:sp>
        <p:nvSpPr>
          <p:cNvPr id="22" name="Right Arrow 21"/>
          <p:cNvSpPr/>
          <p:nvPr/>
        </p:nvSpPr>
        <p:spPr>
          <a:xfrm>
            <a:off x="6930008" y="5953944"/>
            <a:ext cx="378296" cy="21724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p:cNvSpPr/>
          <p:nvPr/>
        </p:nvSpPr>
        <p:spPr>
          <a:xfrm>
            <a:off x="7341570" y="5807595"/>
            <a:ext cx="1008112" cy="509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End</a:t>
            </a:r>
          </a:p>
        </p:txBody>
      </p:sp>
    </p:spTree>
    <p:extLst>
      <p:ext uri="{BB962C8B-B14F-4D97-AF65-F5344CB8AC3E}">
        <p14:creationId xmlns:p14="http://schemas.microsoft.com/office/powerpoint/2010/main" val="2226056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IN" b="1" dirty="0"/>
          </a:p>
          <a:p>
            <a:r>
              <a:rPr lang="en-IN" b="1" dirty="0">
                <a:latin typeface="Bahnschrift Condensed" pitchFamily="34" charset="0"/>
              </a:rPr>
              <a:t>Input Module</a:t>
            </a:r>
            <a:endParaRPr lang="en-IN" dirty="0">
              <a:latin typeface="Bahnschrift Condensed" pitchFamily="34" charset="0"/>
            </a:endParaRPr>
          </a:p>
          <a:p>
            <a:r>
              <a:rPr lang="en-IN" b="1" dirty="0">
                <a:latin typeface="Bahnschrift Condensed" pitchFamily="34" charset="0"/>
              </a:rPr>
              <a:t>Marks &amp; Credits Module</a:t>
            </a:r>
            <a:endParaRPr lang="en-IN" dirty="0">
              <a:latin typeface="Bahnschrift Condensed" pitchFamily="34" charset="0"/>
            </a:endParaRPr>
          </a:p>
          <a:p>
            <a:r>
              <a:rPr lang="en-IN" b="1" dirty="0">
                <a:latin typeface="Bahnschrift Condensed" pitchFamily="34" charset="0"/>
              </a:rPr>
              <a:t>Grade Calculation Module</a:t>
            </a:r>
            <a:endParaRPr lang="en-IN" dirty="0">
              <a:latin typeface="Bahnschrift Condensed" pitchFamily="34" charset="0"/>
            </a:endParaRPr>
          </a:p>
          <a:p>
            <a:r>
              <a:rPr lang="en-IN" b="1" dirty="0">
                <a:latin typeface="Bahnschrift Condensed" pitchFamily="34" charset="0"/>
              </a:rPr>
              <a:t>SGPA Calculation Module</a:t>
            </a:r>
            <a:endParaRPr lang="en-IN" dirty="0">
              <a:latin typeface="Bahnschrift Condensed" pitchFamily="34" charset="0"/>
            </a:endParaRPr>
          </a:p>
          <a:p>
            <a:r>
              <a:rPr lang="en-IN" b="1" dirty="0">
                <a:latin typeface="Bahnschrift Condensed" pitchFamily="34" charset="0"/>
              </a:rPr>
              <a:t>Display Module</a:t>
            </a:r>
            <a:endParaRPr lang="en-IN" dirty="0">
              <a:latin typeface="Bahnschrift Condensed" pitchFamily="34" charset="0"/>
            </a:endParaRPr>
          </a:p>
          <a:p>
            <a:pPr marL="0" indent="0">
              <a:buNone/>
            </a:pPr>
            <a:endParaRPr lang="en-IN" b="1" dirty="0"/>
          </a:p>
          <a:p>
            <a:endParaRPr lang="en-IN" dirty="0"/>
          </a:p>
        </p:txBody>
      </p:sp>
      <p:sp>
        <p:nvSpPr>
          <p:cNvPr id="2" name="Title 1"/>
          <p:cNvSpPr>
            <a:spLocks noGrp="1"/>
          </p:cNvSpPr>
          <p:nvPr>
            <p:ph type="title"/>
          </p:nvPr>
        </p:nvSpPr>
        <p:spPr>
          <a:xfrm>
            <a:off x="395536" y="-171400"/>
            <a:ext cx="8363272" cy="2304256"/>
          </a:xfrm>
        </p:spPr>
        <p:txBody>
          <a:bodyPr/>
          <a:lstStyle/>
          <a:p>
            <a:pPr algn="ctr"/>
            <a:r>
              <a:rPr lang="en-IN" dirty="0">
                <a:solidFill>
                  <a:schemeClr val="accent1"/>
                </a:solidFill>
                <a:latin typeface="Algerian" pitchFamily="82" charset="0"/>
              </a:rPr>
              <a:t>modules</a:t>
            </a:r>
          </a:p>
        </p:txBody>
      </p:sp>
    </p:spTree>
    <p:extLst>
      <p:ext uri="{BB962C8B-B14F-4D97-AF65-F5344CB8AC3E}">
        <p14:creationId xmlns:p14="http://schemas.microsoft.com/office/powerpoint/2010/main" val="1040718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0" indent="0">
              <a:buNone/>
            </a:pPr>
            <a:endParaRPr lang="en-US" b="1" dirty="0"/>
          </a:p>
          <a:p>
            <a:r>
              <a:rPr lang="en-US" b="1" dirty="0">
                <a:latin typeface="Bahnschrift Condensed" pitchFamily="34" charset="0"/>
              </a:rPr>
              <a:t>1. Input Module</a:t>
            </a:r>
          </a:p>
          <a:p>
            <a:r>
              <a:rPr lang="en-US" dirty="0">
                <a:latin typeface="Bahnschrift Condensed" pitchFamily="34" charset="0"/>
              </a:rPr>
              <a:t>Accept student name, roll number, department, year, section.</a:t>
            </a:r>
          </a:p>
          <a:p>
            <a:r>
              <a:rPr lang="en-US" b="1" dirty="0">
                <a:latin typeface="Bahnschrift Condensed" pitchFamily="34" charset="0"/>
              </a:rPr>
              <a:t>2. Marks Module</a:t>
            </a:r>
          </a:p>
          <a:p>
            <a:r>
              <a:rPr lang="en-US" dirty="0">
                <a:latin typeface="Bahnschrift Condensed" pitchFamily="34" charset="0"/>
              </a:rPr>
              <a:t>Read marks of 5 subjects.</a:t>
            </a:r>
          </a:p>
          <a:p>
            <a:r>
              <a:rPr lang="en-US" b="1" dirty="0">
                <a:latin typeface="Bahnschrift Condensed" pitchFamily="34" charset="0"/>
              </a:rPr>
              <a:t>3. Grade Module</a:t>
            </a:r>
          </a:p>
          <a:p>
            <a:r>
              <a:rPr lang="en-US" dirty="0">
                <a:latin typeface="Bahnschrift Condensed" pitchFamily="34" charset="0"/>
              </a:rPr>
              <a:t>Use if-else conditions to convert marks into grade points.</a:t>
            </a:r>
          </a:p>
          <a:p>
            <a:r>
              <a:rPr lang="en-US" b="1" dirty="0">
                <a:latin typeface="Bahnschrift Condensed" pitchFamily="34" charset="0"/>
              </a:rPr>
              <a:t>4. SGPA Module</a:t>
            </a:r>
          </a:p>
          <a:p>
            <a:r>
              <a:rPr lang="en-US" dirty="0">
                <a:latin typeface="Bahnschrift Condensed" pitchFamily="34" charset="0"/>
              </a:rPr>
              <a:t>Multiply (credit × grade) for each subject</a:t>
            </a:r>
          </a:p>
          <a:p>
            <a:r>
              <a:rPr lang="en-US" dirty="0">
                <a:latin typeface="Bahnschrift Condensed" pitchFamily="34" charset="0"/>
              </a:rPr>
              <a:t>Divide by sum of credits</a:t>
            </a:r>
          </a:p>
          <a:p>
            <a:r>
              <a:rPr lang="en-US" b="1" dirty="0">
                <a:latin typeface="Bahnschrift Condensed" pitchFamily="34" charset="0"/>
              </a:rPr>
              <a:t>5. Display Module</a:t>
            </a:r>
          </a:p>
          <a:p>
            <a:r>
              <a:rPr lang="en-US" dirty="0">
                <a:latin typeface="Bahnschrift Condensed" pitchFamily="34" charset="0"/>
              </a:rPr>
              <a:t>Show final formatted output like a marks memo.</a:t>
            </a:r>
          </a:p>
          <a:p>
            <a:endParaRPr lang="en-IN" dirty="0">
              <a:latin typeface="Bahnschrift Condensed" pitchFamily="34" charset="0"/>
            </a:endParaRPr>
          </a:p>
        </p:txBody>
      </p:sp>
      <p:sp>
        <p:nvSpPr>
          <p:cNvPr id="2" name="Title 1"/>
          <p:cNvSpPr>
            <a:spLocks noGrp="1"/>
          </p:cNvSpPr>
          <p:nvPr>
            <p:ph type="title"/>
          </p:nvPr>
        </p:nvSpPr>
        <p:spPr/>
        <p:txBody>
          <a:bodyPr/>
          <a:lstStyle/>
          <a:p>
            <a:pPr algn="ctr"/>
            <a:r>
              <a:rPr lang="en-IN" dirty="0">
                <a:solidFill>
                  <a:schemeClr val="accent1"/>
                </a:solidFill>
                <a:latin typeface="Algerian" pitchFamily="82" charset="0"/>
              </a:rPr>
              <a:t>MODULE-WISE-LOGIC</a:t>
            </a:r>
          </a:p>
        </p:txBody>
      </p:sp>
    </p:spTree>
    <p:extLst>
      <p:ext uri="{BB962C8B-B14F-4D97-AF65-F5344CB8AC3E}">
        <p14:creationId xmlns:p14="http://schemas.microsoft.com/office/powerpoint/2010/main" val="1982810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114300" indent="0">
              <a:buNone/>
            </a:pPr>
            <a:r>
              <a:rPr lang="en-IN" dirty="0">
                <a:latin typeface="Bahnschrift Condensed" pitchFamily="34" charset="0"/>
              </a:rPr>
              <a:t>#include &lt;</a:t>
            </a:r>
            <a:r>
              <a:rPr lang="en-IN" dirty="0" err="1">
                <a:latin typeface="Bahnschrift Condensed" pitchFamily="34" charset="0"/>
              </a:rPr>
              <a:t>stdio.h</a:t>
            </a:r>
            <a:r>
              <a:rPr lang="en-IN" dirty="0">
                <a:latin typeface="Bahnschrift Condensed" pitchFamily="34" charset="0"/>
              </a:rPr>
              <a:t>&gt;</a:t>
            </a:r>
          </a:p>
          <a:p>
            <a:pPr marL="114300" indent="0">
              <a:buNone/>
            </a:pPr>
            <a:r>
              <a:rPr lang="en-IN" dirty="0" err="1">
                <a:latin typeface="Bahnschrift Condensed" pitchFamily="34" charset="0"/>
              </a:rPr>
              <a:t>int</a:t>
            </a:r>
            <a:r>
              <a:rPr lang="en-IN" dirty="0">
                <a:latin typeface="Bahnschrift Condensed" pitchFamily="34" charset="0"/>
              </a:rPr>
              <a:t> main() {</a:t>
            </a:r>
          </a:p>
          <a:p>
            <a:pPr marL="114300" indent="0">
              <a:buNone/>
            </a:pPr>
            <a:r>
              <a:rPr lang="en-IN" dirty="0">
                <a:latin typeface="Bahnschrift Condensed" pitchFamily="34" charset="0"/>
              </a:rPr>
              <a:t>   </a:t>
            </a:r>
            <a:r>
              <a:rPr lang="en-US" dirty="0">
                <a:latin typeface="Bahnschrift Condensed" pitchFamily="34" charset="0"/>
              </a:rPr>
              <a:t>char name[50], </a:t>
            </a:r>
            <a:r>
              <a:rPr lang="en-US" dirty="0" err="1">
                <a:latin typeface="Bahnschrift Condensed" pitchFamily="34" charset="0"/>
              </a:rPr>
              <a:t>dept</a:t>
            </a:r>
            <a:r>
              <a:rPr lang="en-US" dirty="0">
                <a:latin typeface="Bahnschrift Condensed" pitchFamily="34" charset="0"/>
              </a:rPr>
              <a:t>[50], sec[10], year[10];</a:t>
            </a:r>
          </a:p>
          <a:p>
            <a:pPr marL="114300" indent="0">
              <a:buNone/>
            </a:pPr>
            <a:r>
              <a:rPr lang="en-US" dirty="0">
                <a:latin typeface="Bahnschrift Condensed" pitchFamily="34" charset="0"/>
              </a:rPr>
              <a:t>    </a:t>
            </a:r>
            <a:r>
              <a:rPr lang="en-US" dirty="0" err="1">
                <a:latin typeface="Bahnschrift Condensed" pitchFamily="34" charset="0"/>
              </a:rPr>
              <a:t>int</a:t>
            </a:r>
            <a:r>
              <a:rPr lang="en-US" dirty="0">
                <a:latin typeface="Bahnschrift Condensed" pitchFamily="34" charset="0"/>
              </a:rPr>
              <a:t> roll;</a:t>
            </a:r>
          </a:p>
          <a:p>
            <a:pPr marL="114300" indent="0">
              <a:buNone/>
            </a:pPr>
            <a:r>
              <a:rPr lang="en-US" dirty="0">
                <a:latin typeface="Bahnschrift Condensed" pitchFamily="34" charset="0"/>
              </a:rPr>
              <a:t>    </a:t>
            </a:r>
            <a:r>
              <a:rPr lang="en-US" dirty="0" err="1">
                <a:latin typeface="Bahnschrift Condensed" pitchFamily="34" charset="0"/>
              </a:rPr>
              <a:t>int</a:t>
            </a:r>
            <a:r>
              <a:rPr lang="en-US" dirty="0">
                <a:latin typeface="Bahnschrift Condensed" pitchFamily="34" charset="0"/>
              </a:rPr>
              <a:t> m1, m2, m3, m4, m5;</a:t>
            </a:r>
          </a:p>
          <a:p>
            <a:pPr marL="114300" indent="0">
              <a:buNone/>
            </a:pPr>
            <a:r>
              <a:rPr lang="en-US" dirty="0">
                <a:latin typeface="Bahnschrift Condensed" pitchFamily="34" charset="0"/>
              </a:rPr>
              <a:t>    </a:t>
            </a:r>
            <a:r>
              <a:rPr lang="en-US" dirty="0" err="1">
                <a:latin typeface="Bahnschrift Condensed" pitchFamily="34" charset="0"/>
              </a:rPr>
              <a:t>int</a:t>
            </a:r>
            <a:r>
              <a:rPr lang="en-US" dirty="0">
                <a:latin typeface="Bahnschrift Condensed" pitchFamily="34" charset="0"/>
              </a:rPr>
              <a:t> c1, c2, c3, c4, c5;  </a:t>
            </a:r>
          </a:p>
          <a:p>
            <a:pPr marL="114300" indent="0">
              <a:buNone/>
            </a:pPr>
            <a:r>
              <a:rPr lang="en-US" dirty="0">
                <a:latin typeface="Bahnschrift Condensed" pitchFamily="34" charset="0"/>
              </a:rPr>
              <a:t>    float g1, g2, g3, g4, g5;</a:t>
            </a:r>
          </a:p>
          <a:p>
            <a:pPr marL="114300" indent="0">
              <a:buNone/>
            </a:pPr>
            <a:r>
              <a:rPr lang="en-US" dirty="0">
                <a:latin typeface="Bahnschrift Condensed" pitchFamily="34" charset="0"/>
              </a:rPr>
              <a:t>    float </a:t>
            </a:r>
            <a:r>
              <a:rPr lang="en-US" dirty="0" err="1">
                <a:latin typeface="Bahnschrift Condensed" pitchFamily="34" charset="0"/>
              </a:rPr>
              <a:t>sgpa</a:t>
            </a:r>
            <a:r>
              <a:rPr lang="en-US" dirty="0">
                <a:latin typeface="Bahnschrift Condensed" pitchFamily="34" charset="0"/>
              </a:rPr>
              <a:t>;</a:t>
            </a:r>
          </a:p>
          <a:p>
            <a:pPr marL="114300" indent="0">
              <a:buNone/>
            </a:pPr>
            <a:r>
              <a:rPr lang="en-US" dirty="0">
                <a:latin typeface="Bahnschrift Condensed" pitchFamily="34" charset="0"/>
              </a:rPr>
              <a:t>   </a:t>
            </a:r>
            <a:r>
              <a:rPr lang="en-US" dirty="0" err="1">
                <a:latin typeface="Bahnschrift Condensed" pitchFamily="34" charset="0"/>
              </a:rPr>
              <a:t>printf</a:t>
            </a:r>
            <a:r>
              <a:rPr lang="en-US" dirty="0">
                <a:latin typeface="Bahnschrift Condensed" pitchFamily="34" charset="0"/>
              </a:rPr>
              <a:t>("PRAGATI ENGINEERING COLLEGE\n");</a:t>
            </a:r>
          </a:p>
          <a:p>
            <a:pPr marL="114300" indent="0">
              <a:buNone/>
            </a:pPr>
            <a:r>
              <a:rPr lang="en-US" dirty="0">
                <a:latin typeface="Bahnschrift Condensed" pitchFamily="34" charset="0"/>
              </a:rPr>
              <a:t>   </a:t>
            </a:r>
            <a:r>
              <a:rPr lang="en-US" dirty="0" err="1">
                <a:latin typeface="Bahnschrift Condensed" pitchFamily="34" charset="0"/>
              </a:rPr>
              <a:t>printf</a:t>
            </a:r>
            <a:r>
              <a:rPr lang="en-US" dirty="0">
                <a:latin typeface="Bahnschrift Condensed" pitchFamily="34" charset="0"/>
              </a:rPr>
              <a:t>("STUDENT GRADE MANAGEMENT SYSTEM\n\n");</a:t>
            </a:r>
          </a:p>
          <a:p>
            <a:pPr marL="114300" indent="0">
              <a:buNone/>
            </a:pPr>
            <a:r>
              <a:rPr lang="en-US" dirty="0">
                <a:latin typeface="Bahnschrift Condensed" pitchFamily="34" charset="0"/>
              </a:rPr>
              <a:t>   </a:t>
            </a:r>
            <a:r>
              <a:rPr lang="en-US" dirty="0" err="1">
                <a:latin typeface="Bahnschrift Condensed" pitchFamily="34" charset="0"/>
              </a:rPr>
              <a:t>printf</a:t>
            </a:r>
            <a:r>
              <a:rPr lang="en-US" dirty="0">
                <a:latin typeface="Bahnschrift Condensed" pitchFamily="34" charset="0"/>
              </a:rPr>
              <a:t>("Enter Department: ");</a:t>
            </a:r>
          </a:p>
          <a:p>
            <a:pPr marL="114300" indent="0">
              <a:buNone/>
            </a:pPr>
            <a:r>
              <a:rPr lang="en-US" dirty="0">
                <a:latin typeface="Bahnschrift Condensed" pitchFamily="34" charset="0"/>
              </a:rPr>
              <a:t>   </a:t>
            </a:r>
            <a:r>
              <a:rPr lang="en-US" dirty="0" err="1">
                <a:latin typeface="Bahnschrift Condensed" pitchFamily="34" charset="0"/>
              </a:rPr>
              <a:t>scanf</a:t>
            </a:r>
            <a:r>
              <a:rPr lang="en-US" dirty="0">
                <a:latin typeface="Bahnschrift Condensed" pitchFamily="34" charset="0"/>
              </a:rPr>
              <a:t>("%s", </a:t>
            </a:r>
            <a:r>
              <a:rPr lang="en-US" dirty="0" err="1">
                <a:latin typeface="Bahnschrift Condensed" pitchFamily="34" charset="0"/>
              </a:rPr>
              <a:t>dept</a:t>
            </a:r>
            <a:r>
              <a:rPr lang="en-US" dirty="0">
                <a:latin typeface="Bahnschrift Condensed" pitchFamily="34" charset="0"/>
              </a:rPr>
              <a:t>);</a:t>
            </a:r>
          </a:p>
          <a:p>
            <a:pPr marL="114300" indent="0">
              <a:buNone/>
            </a:pPr>
            <a:endParaRPr lang="en-IN" dirty="0"/>
          </a:p>
        </p:txBody>
      </p:sp>
      <p:sp>
        <p:nvSpPr>
          <p:cNvPr id="2" name="Title 1"/>
          <p:cNvSpPr>
            <a:spLocks noGrp="1"/>
          </p:cNvSpPr>
          <p:nvPr>
            <p:ph type="title"/>
          </p:nvPr>
        </p:nvSpPr>
        <p:spPr/>
        <p:txBody>
          <a:bodyPr/>
          <a:lstStyle/>
          <a:p>
            <a:pPr algn="ctr"/>
            <a:r>
              <a:rPr lang="en-IN" dirty="0">
                <a:solidFill>
                  <a:schemeClr val="accent1"/>
                </a:solidFill>
                <a:latin typeface="Algerian" pitchFamily="82" charset="0"/>
              </a:rPr>
              <a:t>Complete code</a:t>
            </a:r>
          </a:p>
        </p:txBody>
      </p:sp>
    </p:spTree>
    <p:extLst>
      <p:ext uri="{BB962C8B-B14F-4D97-AF65-F5344CB8AC3E}">
        <p14:creationId xmlns:p14="http://schemas.microsoft.com/office/powerpoint/2010/main" val="3387957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114300" indent="0">
              <a:buNone/>
            </a:pPr>
            <a:r>
              <a:rPr lang="en-US" dirty="0" err="1">
                <a:latin typeface="Bahnschrift Condensed" pitchFamily="34" charset="0"/>
              </a:rPr>
              <a:t>printf</a:t>
            </a:r>
            <a:r>
              <a:rPr lang="en-US" dirty="0">
                <a:latin typeface="Bahnschrift Condensed" pitchFamily="34" charset="0"/>
              </a:rPr>
              <a:t>("Enter Year: ");</a:t>
            </a:r>
          </a:p>
          <a:p>
            <a:pPr marL="114300" indent="0">
              <a:buNone/>
            </a:pPr>
            <a:r>
              <a:rPr lang="en-US" dirty="0" err="1">
                <a:latin typeface="Bahnschrift Condensed" pitchFamily="34" charset="0"/>
              </a:rPr>
              <a:t>scanf</a:t>
            </a:r>
            <a:r>
              <a:rPr lang="en-US" dirty="0">
                <a:latin typeface="Bahnschrift Condensed" pitchFamily="34" charset="0"/>
              </a:rPr>
              <a:t>("%s", year);</a:t>
            </a:r>
          </a:p>
          <a:p>
            <a:pPr marL="114300" indent="0">
              <a:buNone/>
            </a:pPr>
            <a:r>
              <a:rPr lang="en-IN" dirty="0" err="1">
                <a:latin typeface="Bahnschrift Condensed" pitchFamily="34" charset="0"/>
              </a:rPr>
              <a:t>printf</a:t>
            </a:r>
            <a:r>
              <a:rPr lang="en-IN" dirty="0">
                <a:latin typeface="Bahnschrift Condensed" pitchFamily="34" charset="0"/>
              </a:rPr>
              <a:t>("Enter Section: ")</a:t>
            </a:r>
          </a:p>
          <a:p>
            <a:pPr marL="114300" indent="0">
              <a:buNone/>
            </a:pPr>
            <a:r>
              <a:rPr lang="en-IN" dirty="0" err="1">
                <a:latin typeface="Bahnschrift Condensed" pitchFamily="34" charset="0"/>
              </a:rPr>
              <a:t>scanf</a:t>
            </a:r>
            <a:r>
              <a:rPr lang="en-IN" dirty="0">
                <a:latin typeface="Bahnschrift Condensed" pitchFamily="34" charset="0"/>
              </a:rPr>
              <a:t>("%s", sec);</a:t>
            </a:r>
          </a:p>
          <a:p>
            <a:pPr marL="114300" indent="0">
              <a:buNone/>
            </a:pPr>
            <a:r>
              <a:rPr lang="en-US" dirty="0" err="1">
                <a:latin typeface="Bahnschrift Condensed" pitchFamily="34" charset="0"/>
              </a:rPr>
              <a:t>printf</a:t>
            </a:r>
            <a:r>
              <a:rPr lang="en-US" dirty="0">
                <a:latin typeface="Bahnschrift Condensed" pitchFamily="34" charset="0"/>
              </a:rPr>
              <a:t>("Enter Roll No: ");</a:t>
            </a:r>
          </a:p>
          <a:p>
            <a:pPr marL="114300" indent="0">
              <a:buNone/>
            </a:pPr>
            <a:r>
              <a:rPr lang="en-US" dirty="0" err="1">
                <a:latin typeface="Bahnschrift Condensed" pitchFamily="34" charset="0"/>
              </a:rPr>
              <a:t>scanf</a:t>
            </a:r>
            <a:r>
              <a:rPr lang="en-US" dirty="0">
                <a:latin typeface="Bahnschrift Condensed" pitchFamily="34" charset="0"/>
              </a:rPr>
              <a:t>("%d", &amp;roll);</a:t>
            </a:r>
          </a:p>
          <a:p>
            <a:pPr marL="114300" indent="0">
              <a:buNone/>
            </a:pPr>
            <a:r>
              <a:rPr lang="en-IN" dirty="0" err="1">
                <a:latin typeface="Bahnschrift Condensed" pitchFamily="34" charset="0"/>
              </a:rPr>
              <a:t>printf</a:t>
            </a:r>
            <a:r>
              <a:rPr lang="en-IN" dirty="0">
                <a:latin typeface="Bahnschrift Condensed" pitchFamily="34" charset="0"/>
              </a:rPr>
              <a:t>("Enter Name: ");</a:t>
            </a:r>
          </a:p>
          <a:p>
            <a:pPr marL="114300" indent="0">
              <a:buNone/>
            </a:pPr>
            <a:r>
              <a:rPr lang="en-IN" dirty="0" err="1">
                <a:latin typeface="Bahnschrift Condensed" pitchFamily="34" charset="0"/>
              </a:rPr>
              <a:t>scanf</a:t>
            </a:r>
            <a:r>
              <a:rPr lang="en-IN" dirty="0">
                <a:latin typeface="Bahnschrift Condensed" pitchFamily="34" charset="0"/>
              </a:rPr>
              <a:t>("%s", name);</a:t>
            </a:r>
          </a:p>
          <a:p>
            <a:pPr marL="114300" indent="0">
              <a:buNone/>
            </a:pPr>
            <a:r>
              <a:rPr lang="en-US" dirty="0" err="1">
                <a:latin typeface="Bahnschrift Condensed" pitchFamily="34" charset="0"/>
              </a:rPr>
              <a:t>printf</a:t>
            </a:r>
            <a:r>
              <a:rPr lang="en-US" dirty="0">
                <a:latin typeface="Bahnschrift Condensed" pitchFamily="34" charset="0"/>
              </a:rPr>
              <a:t>("\</a:t>
            </a:r>
            <a:r>
              <a:rPr lang="en-US" dirty="0" err="1">
                <a:latin typeface="Bahnschrift Condensed" pitchFamily="34" charset="0"/>
              </a:rPr>
              <a:t>nEnter</a:t>
            </a:r>
            <a:r>
              <a:rPr lang="en-US" dirty="0">
                <a:latin typeface="Bahnschrift Condensed" pitchFamily="34" charset="0"/>
              </a:rPr>
              <a:t> marks for 5 subjects:\n");</a:t>
            </a:r>
          </a:p>
          <a:p>
            <a:pPr marL="114300" indent="0">
              <a:buNone/>
            </a:pPr>
            <a:r>
              <a:rPr lang="en-US" dirty="0" err="1">
                <a:latin typeface="Bahnschrift Condensed" pitchFamily="34" charset="0"/>
              </a:rPr>
              <a:t>scanf</a:t>
            </a:r>
            <a:r>
              <a:rPr lang="en-US" dirty="0">
                <a:latin typeface="Bahnschrift Condensed" pitchFamily="34" charset="0"/>
              </a:rPr>
              <a:t>("%d %d %d %d %d", &amp;m1, &amp;m2, &amp;m3, &amp;m4, &amp;m5);</a:t>
            </a:r>
          </a:p>
          <a:p>
            <a:pPr marL="114300" indent="0">
              <a:buNone/>
            </a:pPr>
            <a:r>
              <a:rPr lang="en-US" dirty="0" err="1">
                <a:latin typeface="Bahnschrift Condensed" pitchFamily="34" charset="0"/>
              </a:rPr>
              <a:t>printf</a:t>
            </a:r>
            <a:r>
              <a:rPr lang="en-US" dirty="0">
                <a:latin typeface="Bahnschrift Condensed" pitchFamily="34" charset="0"/>
              </a:rPr>
              <a:t>("\</a:t>
            </a:r>
            <a:r>
              <a:rPr lang="en-US" dirty="0" err="1">
                <a:latin typeface="Bahnschrift Condensed" pitchFamily="34" charset="0"/>
              </a:rPr>
              <a:t>nEnter</a:t>
            </a:r>
            <a:r>
              <a:rPr lang="en-US" dirty="0">
                <a:latin typeface="Bahnschrift Condensed" pitchFamily="34" charset="0"/>
              </a:rPr>
              <a:t> credits for 5 subjects:\n");</a:t>
            </a:r>
          </a:p>
          <a:p>
            <a:pPr marL="114300" indent="0">
              <a:buNone/>
            </a:pPr>
            <a:r>
              <a:rPr lang="en-US" dirty="0" err="1">
                <a:latin typeface="Bahnschrift Condensed" pitchFamily="34" charset="0"/>
              </a:rPr>
              <a:t>scanf</a:t>
            </a:r>
            <a:r>
              <a:rPr lang="en-US" dirty="0">
                <a:latin typeface="Bahnschrift Condensed" pitchFamily="34" charset="0"/>
              </a:rPr>
              <a:t>("%d %d %d %d %d", &amp;c1, &amp;c2, &amp;c3, &amp;c4, &amp;c5);</a:t>
            </a:r>
          </a:p>
          <a:p>
            <a:pPr marL="114300" indent="0">
              <a:buNone/>
            </a:pPr>
            <a:endParaRPr lang="en-IN" dirty="0"/>
          </a:p>
        </p:txBody>
      </p:sp>
      <p:sp>
        <p:nvSpPr>
          <p:cNvPr id="2" name="Title 1"/>
          <p:cNvSpPr>
            <a:spLocks noGrp="1"/>
          </p:cNvSpPr>
          <p:nvPr>
            <p:ph type="title"/>
          </p:nvPr>
        </p:nvSpPr>
        <p:spPr>
          <a:xfrm>
            <a:off x="457200" y="274638"/>
            <a:ext cx="7620000" cy="1138138"/>
          </a:xfrm>
        </p:spPr>
        <p:txBody>
          <a:bodyPr/>
          <a:lstStyle/>
          <a:p>
            <a:pPr algn="ctr"/>
            <a:r>
              <a:rPr lang="en-IN" dirty="0">
                <a:solidFill>
                  <a:schemeClr val="accent1"/>
                </a:solidFill>
                <a:latin typeface="Algerian" pitchFamily="82" charset="0"/>
              </a:rPr>
              <a:t>Complete code</a:t>
            </a:r>
          </a:p>
        </p:txBody>
      </p:sp>
    </p:spTree>
    <p:extLst>
      <p:ext uri="{BB962C8B-B14F-4D97-AF65-F5344CB8AC3E}">
        <p14:creationId xmlns:p14="http://schemas.microsoft.com/office/powerpoint/2010/main" val="2107483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marL="114300" indent="0">
              <a:buNone/>
            </a:pPr>
            <a:r>
              <a:rPr lang="en-US" dirty="0"/>
              <a:t> </a:t>
            </a:r>
            <a:r>
              <a:rPr lang="en-US" dirty="0">
                <a:latin typeface="Bahnschrift Condensed" pitchFamily="34" charset="0"/>
              </a:rPr>
              <a:t>// Grade calculation for each subject using if-else</a:t>
            </a:r>
          </a:p>
          <a:p>
            <a:pPr marL="114300" indent="0">
              <a:buNone/>
            </a:pPr>
            <a:r>
              <a:rPr lang="en-US" dirty="0">
                <a:latin typeface="Bahnschrift Condensed" pitchFamily="34" charset="0"/>
              </a:rPr>
              <a:t>    if(m1 &gt;= 90) g1 = 10;  </a:t>
            </a:r>
          </a:p>
          <a:p>
            <a:pPr marL="114300" indent="0">
              <a:buNone/>
            </a:pPr>
            <a:r>
              <a:rPr lang="en-US" dirty="0">
                <a:latin typeface="Bahnschrift Condensed" pitchFamily="34" charset="0"/>
              </a:rPr>
              <a:t>    else if(m1 &gt;= 80) g1 = 9;</a:t>
            </a:r>
          </a:p>
          <a:p>
            <a:pPr marL="114300" indent="0">
              <a:buNone/>
            </a:pPr>
            <a:r>
              <a:rPr lang="en-US" dirty="0">
                <a:latin typeface="Bahnschrift Condensed" pitchFamily="34" charset="0"/>
              </a:rPr>
              <a:t>    else if(m1 &gt;= 70) g1 = 8;</a:t>
            </a:r>
          </a:p>
          <a:p>
            <a:pPr marL="114300" indent="0">
              <a:buNone/>
            </a:pPr>
            <a:r>
              <a:rPr lang="en-US" dirty="0">
                <a:latin typeface="Bahnschrift Condensed" pitchFamily="34" charset="0"/>
              </a:rPr>
              <a:t>    else if(m1 &gt;= 60) g1 = 7;</a:t>
            </a:r>
          </a:p>
          <a:p>
            <a:pPr marL="114300" indent="0">
              <a:buNone/>
            </a:pPr>
            <a:r>
              <a:rPr lang="en-US" dirty="0">
                <a:latin typeface="Bahnschrift Condensed" pitchFamily="34" charset="0"/>
              </a:rPr>
              <a:t>    else if(m1 &gt;= 50) g1 = 6;</a:t>
            </a:r>
          </a:p>
          <a:p>
            <a:pPr marL="114300" indent="0">
              <a:buNone/>
            </a:pPr>
            <a:r>
              <a:rPr lang="en-US" dirty="0">
                <a:latin typeface="Bahnschrift Condensed" pitchFamily="34" charset="0"/>
              </a:rPr>
              <a:t>    else g1 = 0;</a:t>
            </a:r>
          </a:p>
          <a:p>
            <a:pPr marL="114300" indent="0">
              <a:buNone/>
            </a:pPr>
            <a:r>
              <a:rPr lang="en-US" dirty="0">
                <a:latin typeface="Bahnschrift Condensed" pitchFamily="34" charset="0"/>
              </a:rPr>
              <a:t>if(m2 &gt;= 90) g2 = 10;  </a:t>
            </a:r>
          </a:p>
          <a:p>
            <a:pPr marL="114300" indent="0">
              <a:buNone/>
            </a:pPr>
            <a:r>
              <a:rPr lang="en-US" dirty="0">
                <a:latin typeface="Bahnschrift Condensed" pitchFamily="34" charset="0"/>
              </a:rPr>
              <a:t>    else if(m2 &gt;= 80) g2 = 9;</a:t>
            </a:r>
          </a:p>
          <a:p>
            <a:pPr marL="114300" indent="0">
              <a:buNone/>
            </a:pPr>
            <a:r>
              <a:rPr lang="en-US" dirty="0">
                <a:latin typeface="Bahnschrift Condensed" pitchFamily="34" charset="0"/>
              </a:rPr>
              <a:t>    else if(m2 &gt;= 70) g2 = 8;</a:t>
            </a:r>
          </a:p>
          <a:p>
            <a:pPr marL="114300" indent="0">
              <a:buNone/>
            </a:pPr>
            <a:r>
              <a:rPr lang="en-US" dirty="0">
                <a:latin typeface="Bahnschrift Condensed" pitchFamily="34" charset="0"/>
              </a:rPr>
              <a:t>    else if(m2 &gt;= 60) g2 = 7;</a:t>
            </a:r>
          </a:p>
          <a:p>
            <a:pPr marL="114300" indent="0">
              <a:buNone/>
            </a:pPr>
            <a:r>
              <a:rPr lang="en-US" dirty="0">
                <a:latin typeface="Bahnschrift Condensed" pitchFamily="34" charset="0"/>
              </a:rPr>
              <a:t>    else if(m2 &gt;= 50) g2 = 6;</a:t>
            </a:r>
          </a:p>
          <a:p>
            <a:pPr marL="114300" indent="0">
              <a:buNone/>
            </a:pPr>
            <a:r>
              <a:rPr lang="en-US" dirty="0">
                <a:latin typeface="Bahnschrift Condensed" pitchFamily="34" charset="0"/>
              </a:rPr>
              <a:t>    else g2 = 0;</a:t>
            </a:r>
            <a:endParaRPr lang="en-IN" dirty="0">
              <a:latin typeface="Bahnschrift Condensed" pitchFamily="34" charset="0"/>
            </a:endParaRPr>
          </a:p>
        </p:txBody>
      </p:sp>
      <p:sp>
        <p:nvSpPr>
          <p:cNvPr id="2" name="Title 1"/>
          <p:cNvSpPr>
            <a:spLocks noGrp="1"/>
          </p:cNvSpPr>
          <p:nvPr>
            <p:ph type="title"/>
          </p:nvPr>
        </p:nvSpPr>
        <p:spPr/>
        <p:txBody>
          <a:bodyPr/>
          <a:lstStyle/>
          <a:p>
            <a:pPr algn="ctr"/>
            <a:r>
              <a:rPr lang="en-IN" dirty="0">
                <a:solidFill>
                  <a:schemeClr val="accent1"/>
                </a:solidFill>
                <a:latin typeface="Algerian" pitchFamily="82" charset="0"/>
              </a:rPr>
              <a:t>Complete code</a:t>
            </a:r>
          </a:p>
        </p:txBody>
      </p:sp>
    </p:spTree>
    <p:extLst>
      <p:ext uri="{BB962C8B-B14F-4D97-AF65-F5344CB8AC3E}">
        <p14:creationId xmlns:p14="http://schemas.microsoft.com/office/powerpoint/2010/main" val="3677396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109728" indent="0">
              <a:buNone/>
            </a:pPr>
            <a:r>
              <a:rPr lang="en-US" dirty="0">
                <a:latin typeface="Bahnschrift Condensed" pitchFamily="34" charset="0"/>
              </a:rPr>
              <a:t>if(m3 &gt;= 90) g3 = 10;  </a:t>
            </a:r>
          </a:p>
          <a:p>
            <a:pPr marL="109728" indent="0">
              <a:buNone/>
            </a:pPr>
            <a:r>
              <a:rPr lang="en-US" dirty="0">
                <a:latin typeface="Bahnschrift Condensed" pitchFamily="34" charset="0"/>
              </a:rPr>
              <a:t>    else if(m3 &gt;= 80) g3 = 9;</a:t>
            </a:r>
          </a:p>
          <a:p>
            <a:pPr marL="109728" indent="0">
              <a:buNone/>
            </a:pPr>
            <a:r>
              <a:rPr lang="en-US" dirty="0">
                <a:latin typeface="Bahnschrift Condensed" pitchFamily="34" charset="0"/>
              </a:rPr>
              <a:t>    else if(m3 &gt;= 70) g3 = 8;</a:t>
            </a:r>
          </a:p>
          <a:p>
            <a:pPr marL="109728" indent="0">
              <a:buNone/>
            </a:pPr>
            <a:r>
              <a:rPr lang="en-US" dirty="0">
                <a:latin typeface="Bahnschrift Condensed" pitchFamily="34" charset="0"/>
              </a:rPr>
              <a:t>    else if(m3 &gt;= 60) g3 = 7;</a:t>
            </a:r>
          </a:p>
          <a:p>
            <a:pPr marL="109728" indent="0">
              <a:buNone/>
            </a:pPr>
            <a:r>
              <a:rPr lang="en-US" dirty="0">
                <a:latin typeface="Bahnschrift Condensed" pitchFamily="34" charset="0"/>
              </a:rPr>
              <a:t>    else if(m3 &gt;= 50) g3 = 6;</a:t>
            </a:r>
          </a:p>
          <a:p>
            <a:pPr marL="109728" indent="0">
              <a:buNone/>
            </a:pPr>
            <a:r>
              <a:rPr lang="en-US" dirty="0">
                <a:latin typeface="Bahnschrift Condensed" pitchFamily="34" charset="0"/>
              </a:rPr>
              <a:t>    else g3 = 0;</a:t>
            </a:r>
          </a:p>
          <a:p>
            <a:pPr marL="109728" indent="0">
              <a:buNone/>
            </a:pPr>
            <a:r>
              <a:rPr lang="en-US" dirty="0">
                <a:latin typeface="Bahnschrift Condensed" pitchFamily="34" charset="0"/>
              </a:rPr>
              <a:t> if(m4 &gt;= 90) g4 = 10;  </a:t>
            </a:r>
          </a:p>
          <a:p>
            <a:pPr marL="109728" indent="0">
              <a:buNone/>
            </a:pPr>
            <a:r>
              <a:rPr lang="en-US" dirty="0">
                <a:latin typeface="Bahnschrift Condensed" pitchFamily="34" charset="0"/>
              </a:rPr>
              <a:t>    else if(m4 &gt;= 80) g4 = 9;</a:t>
            </a:r>
          </a:p>
          <a:p>
            <a:pPr marL="109728" indent="0">
              <a:buNone/>
            </a:pPr>
            <a:r>
              <a:rPr lang="en-US" dirty="0">
                <a:latin typeface="Bahnschrift Condensed" pitchFamily="34" charset="0"/>
              </a:rPr>
              <a:t>    else if(m4 &gt;= 70) g4 = 8;</a:t>
            </a:r>
          </a:p>
          <a:p>
            <a:pPr marL="109728" indent="0">
              <a:buNone/>
            </a:pPr>
            <a:r>
              <a:rPr lang="en-US" dirty="0">
                <a:latin typeface="Bahnschrift Condensed" pitchFamily="34" charset="0"/>
              </a:rPr>
              <a:t>    else if(m4 &gt;= 60) g4 = 7;</a:t>
            </a:r>
          </a:p>
          <a:p>
            <a:pPr marL="109728" indent="0">
              <a:buNone/>
            </a:pPr>
            <a:r>
              <a:rPr lang="en-US" dirty="0">
                <a:latin typeface="Bahnschrift Condensed" pitchFamily="34" charset="0"/>
              </a:rPr>
              <a:t>    else if(m4 &gt;= 50) g4 = 6;</a:t>
            </a:r>
          </a:p>
          <a:p>
            <a:pPr marL="109728" indent="0">
              <a:buNone/>
            </a:pPr>
            <a:r>
              <a:rPr lang="en-US" dirty="0">
                <a:latin typeface="Bahnschrift Condensed" pitchFamily="34" charset="0"/>
              </a:rPr>
              <a:t>    else g4 = 0;</a:t>
            </a:r>
            <a:endParaRPr lang="en-IN" dirty="0">
              <a:latin typeface="Bahnschrift Condensed" pitchFamily="34" charset="0"/>
            </a:endParaRPr>
          </a:p>
        </p:txBody>
      </p:sp>
      <p:sp>
        <p:nvSpPr>
          <p:cNvPr id="2" name="Title 1"/>
          <p:cNvSpPr>
            <a:spLocks noGrp="1"/>
          </p:cNvSpPr>
          <p:nvPr>
            <p:ph type="title"/>
          </p:nvPr>
        </p:nvSpPr>
        <p:spPr/>
        <p:txBody>
          <a:bodyPr/>
          <a:lstStyle/>
          <a:p>
            <a:pPr algn="ctr"/>
            <a:r>
              <a:rPr lang="en-IN" dirty="0">
                <a:solidFill>
                  <a:schemeClr val="accent1"/>
                </a:solidFill>
                <a:latin typeface="Algerian" pitchFamily="82" charset="0"/>
              </a:rPr>
              <a:t>Complete code</a:t>
            </a:r>
          </a:p>
        </p:txBody>
      </p:sp>
    </p:spTree>
    <p:extLst>
      <p:ext uri="{BB962C8B-B14F-4D97-AF65-F5344CB8AC3E}">
        <p14:creationId xmlns:p14="http://schemas.microsoft.com/office/powerpoint/2010/main" val="3871908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marL="109728" indent="0">
              <a:buNone/>
            </a:pPr>
            <a:r>
              <a:rPr lang="en-US" dirty="0"/>
              <a:t> </a:t>
            </a:r>
            <a:r>
              <a:rPr lang="en-US" dirty="0">
                <a:latin typeface="Bahnschrift Condensed" pitchFamily="34" charset="0"/>
              </a:rPr>
              <a:t>if(m5 &gt;= 90) g5 = 10;  </a:t>
            </a:r>
          </a:p>
          <a:p>
            <a:pPr marL="109728" indent="0">
              <a:buNone/>
            </a:pPr>
            <a:r>
              <a:rPr lang="en-US" dirty="0">
                <a:latin typeface="Bahnschrift Condensed" pitchFamily="34" charset="0"/>
              </a:rPr>
              <a:t>    else if(m5 &gt;= 80) g5 = 9;</a:t>
            </a:r>
          </a:p>
          <a:p>
            <a:pPr marL="109728" indent="0">
              <a:buNone/>
            </a:pPr>
            <a:r>
              <a:rPr lang="en-US" dirty="0">
                <a:latin typeface="Bahnschrift Condensed" pitchFamily="34" charset="0"/>
              </a:rPr>
              <a:t>    else if(m5 &gt;= 70) g5 = 8;</a:t>
            </a:r>
          </a:p>
          <a:p>
            <a:pPr marL="109728" indent="0">
              <a:buNone/>
            </a:pPr>
            <a:r>
              <a:rPr lang="en-US" dirty="0">
                <a:latin typeface="Bahnschrift Condensed" pitchFamily="34" charset="0"/>
              </a:rPr>
              <a:t>    else if(m5 &gt;= 60) g5 = 7;</a:t>
            </a:r>
          </a:p>
          <a:p>
            <a:pPr marL="109728" indent="0">
              <a:buNone/>
            </a:pPr>
            <a:r>
              <a:rPr lang="en-US" dirty="0">
                <a:latin typeface="Bahnschrift Condensed" pitchFamily="34" charset="0"/>
              </a:rPr>
              <a:t>    else if(m5 &gt;= 50) g5 = 6;</a:t>
            </a:r>
          </a:p>
          <a:p>
            <a:pPr marL="109728" indent="0">
              <a:buNone/>
            </a:pPr>
            <a:r>
              <a:rPr lang="en-US" dirty="0">
                <a:latin typeface="Bahnschrift Condensed" pitchFamily="34" charset="0"/>
              </a:rPr>
              <a:t>    else g5 = 0;</a:t>
            </a:r>
          </a:p>
          <a:p>
            <a:pPr marL="109728" indent="0">
              <a:buNone/>
            </a:pPr>
            <a:r>
              <a:rPr lang="en-IN" dirty="0">
                <a:latin typeface="Bahnschrift Condensed" pitchFamily="34" charset="0"/>
              </a:rPr>
              <a:t>// SGPA calculation</a:t>
            </a:r>
          </a:p>
          <a:p>
            <a:pPr marL="109728" indent="0">
              <a:buNone/>
            </a:pPr>
            <a:r>
              <a:rPr lang="en-IN" dirty="0">
                <a:latin typeface="Bahnschrift Condensed" pitchFamily="34" charset="0"/>
              </a:rPr>
              <a:t>    </a:t>
            </a:r>
            <a:r>
              <a:rPr lang="en-IN" dirty="0" err="1">
                <a:latin typeface="Bahnschrift Condensed" pitchFamily="34" charset="0"/>
              </a:rPr>
              <a:t>sgpa</a:t>
            </a:r>
            <a:r>
              <a:rPr lang="en-IN" dirty="0">
                <a:latin typeface="Bahnschrift Condensed" pitchFamily="34" charset="0"/>
              </a:rPr>
              <a:t> = (g1*c1 + g2*c2 + g3*c3 + g4*c4 + g5*c5) / </a:t>
            </a:r>
          </a:p>
          <a:p>
            <a:pPr marL="109728" indent="0">
              <a:buNone/>
            </a:pPr>
            <a:r>
              <a:rPr lang="en-IN" dirty="0">
                <a:latin typeface="Bahnschrift Condensed" pitchFamily="34" charset="0"/>
              </a:rPr>
              <a:t>           (float)(c1 + c2 + c3 + c4 + c5);</a:t>
            </a:r>
          </a:p>
          <a:p>
            <a:pPr marL="109728" indent="0">
              <a:buNone/>
            </a:pPr>
            <a:endParaRPr lang="en-IN" dirty="0">
              <a:latin typeface="Bahnschrift Condensed" pitchFamily="34" charset="0"/>
            </a:endParaRPr>
          </a:p>
          <a:p>
            <a:pPr marL="109728" indent="0">
              <a:buNone/>
            </a:pPr>
            <a:r>
              <a:rPr lang="en-IN" dirty="0">
                <a:latin typeface="Bahnschrift Condensed" pitchFamily="34" charset="0"/>
              </a:rPr>
              <a:t>    </a:t>
            </a:r>
            <a:r>
              <a:rPr lang="en-IN" dirty="0" err="1">
                <a:latin typeface="Bahnschrift Condensed" pitchFamily="34" charset="0"/>
              </a:rPr>
              <a:t>printf</a:t>
            </a:r>
            <a:r>
              <a:rPr lang="en-IN" dirty="0">
                <a:latin typeface="Bahnschrift Condensed" pitchFamily="34" charset="0"/>
              </a:rPr>
              <a:t>("\n---------------------------------------------\n");</a:t>
            </a:r>
          </a:p>
          <a:p>
            <a:pPr marL="109728" indent="0">
              <a:buNone/>
            </a:pPr>
            <a:r>
              <a:rPr lang="en-IN" dirty="0">
                <a:latin typeface="Bahnschrift Condensed" pitchFamily="34" charset="0"/>
              </a:rPr>
              <a:t>    </a:t>
            </a:r>
            <a:r>
              <a:rPr lang="en-IN" dirty="0" err="1">
                <a:latin typeface="Bahnschrift Condensed" pitchFamily="34" charset="0"/>
              </a:rPr>
              <a:t>printf</a:t>
            </a:r>
            <a:r>
              <a:rPr lang="en-IN" dirty="0">
                <a:latin typeface="Bahnschrift Condensed" pitchFamily="34" charset="0"/>
              </a:rPr>
              <a:t>("PRAGATI ENGINEERING COLLEGE\n");</a:t>
            </a:r>
          </a:p>
          <a:p>
            <a:pPr marL="109728" indent="0">
              <a:buNone/>
            </a:pPr>
            <a:r>
              <a:rPr lang="en-IN" dirty="0">
                <a:latin typeface="Bahnschrift Condensed" pitchFamily="34" charset="0"/>
              </a:rPr>
              <a:t>    </a:t>
            </a:r>
            <a:r>
              <a:rPr lang="en-IN" dirty="0" err="1">
                <a:latin typeface="Bahnschrift Condensed" pitchFamily="34" charset="0"/>
              </a:rPr>
              <a:t>printf</a:t>
            </a:r>
            <a:r>
              <a:rPr lang="en-IN" dirty="0">
                <a:latin typeface="Bahnschrift Condensed" pitchFamily="34" charset="0"/>
              </a:rPr>
              <a:t>("Department: %s\n", </a:t>
            </a:r>
            <a:r>
              <a:rPr lang="en-IN" dirty="0" err="1">
                <a:latin typeface="Bahnschrift Condensed" pitchFamily="34" charset="0"/>
              </a:rPr>
              <a:t>dept</a:t>
            </a:r>
            <a:r>
              <a:rPr lang="en-IN" dirty="0">
                <a:latin typeface="Bahnschrift Condensed" pitchFamily="34" charset="0"/>
              </a:rPr>
              <a:t>);</a:t>
            </a:r>
          </a:p>
          <a:p>
            <a:pPr marL="109728" indent="0">
              <a:buNone/>
            </a:pPr>
            <a:r>
              <a:rPr lang="en-IN" dirty="0">
                <a:latin typeface="Bahnschrift Condensed" pitchFamily="34" charset="0"/>
              </a:rPr>
              <a:t>    </a:t>
            </a:r>
            <a:r>
              <a:rPr lang="en-IN" dirty="0" err="1">
                <a:latin typeface="Bahnschrift Condensed" pitchFamily="34" charset="0"/>
              </a:rPr>
              <a:t>printf</a:t>
            </a:r>
            <a:r>
              <a:rPr lang="en-IN" dirty="0">
                <a:latin typeface="Bahnschrift Condensed" pitchFamily="34" charset="0"/>
              </a:rPr>
              <a:t>("Year: %s   Section: %s\n", year, sec);</a:t>
            </a:r>
          </a:p>
        </p:txBody>
      </p:sp>
      <p:sp>
        <p:nvSpPr>
          <p:cNvPr id="2" name="Title 1"/>
          <p:cNvSpPr>
            <a:spLocks noGrp="1"/>
          </p:cNvSpPr>
          <p:nvPr>
            <p:ph type="title"/>
          </p:nvPr>
        </p:nvSpPr>
        <p:spPr/>
        <p:txBody>
          <a:bodyPr/>
          <a:lstStyle/>
          <a:p>
            <a:pPr algn="ctr"/>
            <a:r>
              <a:rPr lang="en-IN" dirty="0">
                <a:solidFill>
                  <a:schemeClr val="accent1"/>
                </a:solidFill>
                <a:latin typeface="Algerian" pitchFamily="82" charset="0"/>
              </a:rPr>
              <a:t>COMPLETE CODE</a:t>
            </a:r>
          </a:p>
        </p:txBody>
      </p:sp>
    </p:spTree>
    <p:extLst>
      <p:ext uri="{BB962C8B-B14F-4D97-AF65-F5344CB8AC3E}">
        <p14:creationId xmlns:p14="http://schemas.microsoft.com/office/powerpoint/2010/main" val="2705207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marL="114300" indent="0">
              <a:buNone/>
            </a:pPr>
            <a:r>
              <a:rPr lang="en-IN" dirty="0">
                <a:latin typeface="Bahnschrift Condensed" pitchFamily="34" charset="0"/>
              </a:rPr>
              <a:t> </a:t>
            </a:r>
            <a:r>
              <a:rPr lang="en-IN" dirty="0" err="1">
                <a:latin typeface="Bahnschrift Condensed" pitchFamily="34" charset="0"/>
              </a:rPr>
              <a:t>printf</a:t>
            </a:r>
            <a:r>
              <a:rPr lang="en-IN" dirty="0">
                <a:latin typeface="Bahnschrift Condensed" pitchFamily="34" charset="0"/>
              </a:rPr>
              <a:t>("Roll No: %d   Name: %s\n", roll, name);</a:t>
            </a:r>
          </a:p>
          <a:p>
            <a:pPr marL="114300" indent="0">
              <a:buNone/>
            </a:pPr>
            <a:r>
              <a:rPr lang="en-IN" dirty="0">
                <a:latin typeface="Bahnschrift Condensed" pitchFamily="34" charset="0"/>
              </a:rPr>
              <a:t>    </a:t>
            </a:r>
            <a:r>
              <a:rPr lang="en-IN" dirty="0" err="1">
                <a:latin typeface="Bahnschrift Condensed" pitchFamily="34" charset="0"/>
              </a:rPr>
              <a:t>printf</a:t>
            </a:r>
            <a:r>
              <a:rPr lang="en-IN" dirty="0">
                <a:latin typeface="Bahnschrift Condensed" pitchFamily="34" charset="0"/>
              </a:rPr>
              <a:t>("---------------------------------------------\n");</a:t>
            </a:r>
          </a:p>
          <a:p>
            <a:pPr marL="114300" indent="0">
              <a:buNone/>
            </a:pPr>
            <a:endParaRPr lang="en-IN" dirty="0">
              <a:latin typeface="Bahnschrift Condensed" pitchFamily="34" charset="0"/>
            </a:endParaRPr>
          </a:p>
          <a:p>
            <a:pPr marL="114300" indent="0">
              <a:buNone/>
            </a:pPr>
            <a:r>
              <a:rPr lang="en-IN" dirty="0">
                <a:latin typeface="Bahnschrift Condensed" pitchFamily="34" charset="0"/>
              </a:rPr>
              <a:t>    </a:t>
            </a:r>
            <a:r>
              <a:rPr lang="en-IN" dirty="0" err="1">
                <a:latin typeface="Bahnschrift Condensed" pitchFamily="34" charset="0"/>
              </a:rPr>
              <a:t>printf</a:t>
            </a:r>
            <a:r>
              <a:rPr lang="en-IN" dirty="0">
                <a:latin typeface="Bahnschrift Condensed" pitchFamily="34" charset="0"/>
              </a:rPr>
              <a:t>("\</a:t>
            </a:r>
            <a:r>
              <a:rPr lang="en-IN" dirty="0" err="1">
                <a:latin typeface="Bahnschrift Condensed" pitchFamily="34" charset="0"/>
              </a:rPr>
              <a:t>nSubject</a:t>
            </a:r>
            <a:r>
              <a:rPr lang="en-IN" dirty="0">
                <a:latin typeface="Bahnschrift Condensed" pitchFamily="34" charset="0"/>
              </a:rPr>
              <a:t>      Credits   Grade\n");</a:t>
            </a:r>
          </a:p>
          <a:p>
            <a:pPr marL="114300" indent="0">
              <a:buNone/>
            </a:pPr>
            <a:r>
              <a:rPr lang="en-IN" dirty="0">
                <a:latin typeface="Bahnschrift Condensed" pitchFamily="34" charset="0"/>
              </a:rPr>
              <a:t>    </a:t>
            </a:r>
            <a:r>
              <a:rPr lang="en-IN" dirty="0" err="1">
                <a:latin typeface="Bahnschrift Condensed" pitchFamily="34" charset="0"/>
              </a:rPr>
              <a:t>printf</a:t>
            </a:r>
            <a:r>
              <a:rPr lang="en-IN" dirty="0">
                <a:latin typeface="Bahnschrift Condensed" pitchFamily="34" charset="0"/>
              </a:rPr>
              <a:t>("Subject 1      %d        %.1f\n", c1, g1);</a:t>
            </a:r>
          </a:p>
          <a:p>
            <a:pPr marL="114300" indent="0">
              <a:buNone/>
            </a:pPr>
            <a:r>
              <a:rPr lang="en-IN" dirty="0">
                <a:latin typeface="Bahnschrift Condensed" pitchFamily="34" charset="0"/>
              </a:rPr>
              <a:t>    </a:t>
            </a:r>
            <a:r>
              <a:rPr lang="en-IN" dirty="0" err="1">
                <a:latin typeface="Bahnschrift Condensed" pitchFamily="34" charset="0"/>
              </a:rPr>
              <a:t>printf</a:t>
            </a:r>
            <a:r>
              <a:rPr lang="en-IN" dirty="0">
                <a:latin typeface="Bahnschrift Condensed" pitchFamily="34" charset="0"/>
              </a:rPr>
              <a:t>("Subject 2      %d        %.1f\n", c2, g2);</a:t>
            </a:r>
          </a:p>
          <a:p>
            <a:pPr marL="114300" indent="0">
              <a:buNone/>
            </a:pPr>
            <a:r>
              <a:rPr lang="en-IN" dirty="0">
                <a:latin typeface="Bahnschrift Condensed" pitchFamily="34" charset="0"/>
              </a:rPr>
              <a:t>    </a:t>
            </a:r>
            <a:r>
              <a:rPr lang="en-IN" dirty="0" err="1">
                <a:latin typeface="Bahnschrift Condensed" pitchFamily="34" charset="0"/>
              </a:rPr>
              <a:t>printf</a:t>
            </a:r>
            <a:r>
              <a:rPr lang="en-IN" dirty="0">
                <a:latin typeface="Bahnschrift Condensed" pitchFamily="34" charset="0"/>
              </a:rPr>
              <a:t>("Subject 3      %d        %.1f\n", c3, g3);</a:t>
            </a:r>
          </a:p>
          <a:p>
            <a:pPr marL="114300" indent="0">
              <a:buNone/>
            </a:pPr>
            <a:r>
              <a:rPr lang="en-IN" dirty="0">
                <a:latin typeface="Bahnschrift Condensed" pitchFamily="34" charset="0"/>
              </a:rPr>
              <a:t>    </a:t>
            </a:r>
            <a:r>
              <a:rPr lang="en-IN" dirty="0" err="1">
                <a:latin typeface="Bahnschrift Condensed" pitchFamily="34" charset="0"/>
              </a:rPr>
              <a:t>printf</a:t>
            </a:r>
            <a:r>
              <a:rPr lang="en-IN" dirty="0">
                <a:latin typeface="Bahnschrift Condensed" pitchFamily="34" charset="0"/>
              </a:rPr>
              <a:t>("Subject 4      %d        %.1f\n", c4, g4);</a:t>
            </a:r>
          </a:p>
          <a:p>
            <a:pPr marL="114300" indent="0">
              <a:buNone/>
            </a:pPr>
            <a:r>
              <a:rPr lang="en-IN" dirty="0">
                <a:latin typeface="Bahnschrift Condensed" pitchFamily="34" charset="0"/>
              </a:rPr>
              <a:t>    </a:t>
            </a:r>
            <a:r>
              <a:rPr lang="en-IN" dirty="0" err="1">
                <a:latin typeface="Bahnschrift Condensed" pitchFamily="34" charset="0"/>
              </a:rPr>
              <a:t>printf</a:t>
            </a:r>
            <a:r>
              <a:rPr lang="en-IN" dirty="0">
                <a:latin typeface="Bahnschrift Condensed" pitchFamily="34" charset="0"/>
              </a:rPr>
              <a:t>("Subject 5      %d        %.1f\n", c5, g5);</a:t>
            </a:r>
          </a:p>
          <a:p>
            <a:pPr marL="114300" indent="0">
              <a:buNone/>
            </a:pPr>
            <a:r>
              <a:rPr lang="en-IN" dirty="0">
                <a:latin typeface="Bahnschrift Condensed" pitchFamily="34" charset="0"/>
              </a:rPr>
              <a:t> </a:t>
            </a:r>
            <a:r>
              <a:rPr lang="en-IN" dirty="0" err="1">
                <a:latin typeface="Bahnschrift Condensed" pitchFamily="34" charset="0"/>
              </a:rPr>
              <a:t>printf</a:t>
            </a:r>
            <a:r>
              <a:rPr lang="en-IN" dirty="0">
                <a:latin typeface="Bahnschrift Condensed" pitchFamily="34" charset="0"/>
              </a:rPr>
              <a:t>("\</a:t>
            </a:r>
            <a:r>
              <a:rPr lang="en-IN" dirty="0" err="1">
                <a:latin typeface="Bahnschrift Condensed" pitchFamily="34" charset="0"/>
              </a:rPr>
              <a:t>nSGPA</a:t>
            </a:r>
            <a:r>
              <a:rPr lang="en-IN" dirty="0">
                <a:latin typeface="Bahnschrift Condensed" pitchFamily="34" charset="0"/>
              </a:rPr>
              <a:t> = %.2f\n", </a:t>
            </a:r>
            <a:r>
              <a:rPr lang="en-IN" dirty="0" err="1">
                <a:latin typeface="Bahnschrift Condensed" pitchFamily="34" charset="0"/>
              </a:rPr>
              <a:t>sgpa</a:t>
            </a:r>
            <a:r>
              <a:rPr lang="en-IN" dirty="0">
                <a:latin typeface="Bahnschrift Condensed" pitchFamily="34" charset="0"/>
              </a:rPr>
              <a:t>);</a:t>
            </a:r>
          </a:p>
          <a:p>
            <a:pPr marL="114300" indent="0">
              <a:buNone/>
            </a:pPr>
            <a:endParaRPr lang="en-IN" dirty="0">
              <a:latin typeface="Bahnschrift Condensed" pitchFamily="34" charset="0"/>
            </a:endParaRPr>
          </a:p>
          <a:p>
            <a:pPr marL="114300" indent="0">
              <a:buNone/>
            </a:pPr>
            <a:r>
              <a:rPr lang="en-IN" dirty="0">
                <a:latin typeface="Bahnschrift Condensed" pitchFamily="34" charset="0"/>
              </a:rPr>
              <a:t>    return 0;</a:t>
            </a:r>
          </a:p>
          <a:p>
            <a:pPr marL="114300" indent="0">
              <a:buNone/>
            </a:pPr>
            <a:r>
              <a:rPr lang="en-IN" dirty="0">
                <a:latin typeface="Bahnschrift Condensed" pitchFamily="34" charset="0"/>
              </a:rPr>
              <a:t>}</a:t>
            </a:r>
          </a:p>
        </p:txBody>
      </p:sp>
      <p:sp>
        <p:nvSpPr>
          <p:cNvPr id="2" name="Title 1"/>
          <p:cNvSpPr>
            <a:spLocks noGrp="1"/>
          </p:cNvSpPr>
          <p:nvPr>
            <p:ph type="title"/>
          </p:nvPr>
        </p:nvSpPr>
        <p:spPr/>
        <p:txBody>
          <a:bodyPr/>
          <a:lstStyle/>
          <a:p>
            <a:pPr algn="ctr"/>
            <a:r>
              <a:rPr lang="en-IN" dirty="0">
                <a:solidFill>
                  <a:schemeClr val="accent1"/>
                </a:solidFill>
                <a:latin typeface="Algerian" pitchFamily="82" charset="0"/>
              </a:rPr>
              <a:t>COMPLETE CODE</a:t>
            </a:r>
          </a:p>
        </p:txBody>
      </p:sp>
    </p:spTree>
    <p:extLst>
      <p:ext uri="{BB962C8B-B14F-4D97-AF65-F5344CB8AC3E}">
        <p14:creationId xmlns:p14="http://schemas.microsoft.com/office/powerpoint/2010/main" val="919137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114300" indent="0">
              <a:buNone/>
            </a:pPr>
            <a:r>
              <a:rPr lang="en-US" dirty="0">
                <a:latin typeface="Bahnschrift Condensed" pitchFamily="34" charset="0"/>
              </a:rPr>
              <a:t>Module Integration explains how all individual modules of the system combine to form one complete working system.</a:t>
            </a:r>
          </a:p>
          <a:p>
            <a:pPr marL="571500" indent="-457200">
              <a:buAutoNum type="arabicPeriod"/>
            </a:pPr>
            <a:r>
              <a:rPr lang="en-US" dirty="0">
                <a:latin typeface="Bahnschrift Condensed" pitchFamily="34" charset="0"/>
              </a:rPr>
              <a:t>Login Module → Student Information Module</a:t>
            </a:r>
          </a:p>
          <a:p>
            <a:pPr marL="571500" indent="-457200">
              <a:buAutoNum type="arabicPeriod"/>
            </a:pPr>
            <a:r>
              <a:rPr lang="en-US" dirty="0">
                <a:latin typeface="Bahnschrift Condensed" pitchFamily="34" charset="0"/>
              </a:rPr>
              <a:t>Student Information Module → Marks Entry Module</a:t>
            </a:r>
          </a:p>
          <a:p>
            <a:pPr marL="571500" indent="-457200">
              <a:buAutoNum type="arabicPeriod"/>
            </a:pPr>
            <a:r>
              <a:rPr lang="en-US" dirty="0">
                <a:latin typeface="Bahnschrift Condensed" pitchFamily="34" charset="0"/>
              </a:rPr>
              <a:t>Marks Entry Module → Grade Calculation Module</a:t>
            </a:r>
          </a:p>
          <a:p>
            <a:pPr marL="571500" indent="-457200">
              <a:buAutoNum type="arabicPeriod"/>
            </a:pPr>
            <a:r>
              <a:rPr lang="en-US" dirty="0">
                <a:latin typeface="Bahnschrift Condensed" pitchFamily="34" charset="0"/>
              </a:rPr>
              <a:t>Grade Calculation Module → SGPA Calculation Module</a:t>
            </a:r>
          </a:p>
          <a:p>
            <a:pPr marL="571500" indent="-457200">
              <a:buAutoNum type="arabicPeriod"/>
            </a:pPr>
            <a:r>
              <a:rPr lang="en-US" dirty="0">
                <a:latin typeface="Bahnschrift Condensed" pitchFamily="34" charset="0"/>
              </a:rPr>
              <a:t>SGPA Calculation Module → Result Generation Module</a:t>
            </a:r>
          </a:p>
          <a:p>
            <a:pPr marL="571500" indent="-457200">
              <a:buAutoNum type="arabicPeriod"/>
            </a:pPr>
            <a:r>
              <a:rPr lang="en-US" dirty="0">
                <a:latin typeface="Bahnschrift Condensed" pitchFamily="34" charset="0"/>
              </a:rPr>
              <a:t>Result Generation Module → Report Display Module</a:t>
            </a:r>
            <a:endParaRPr lang="en-IN" dirty="0">
              <a:latin typeface="Bahnschrift Condensed" pitchFamily="34" charset="0"/>
            </a:endParaRPr>
          </a:p>
        </p:txBody>
      </p:sp>
      <p:sp>
        <p:nvSpPr>
          <p:cNvPr id="2" name="Title 1"/>
          <p:cNvSpPr>
            <a:spLocks noGrp="1"/>
          </p:cNvSpPr>
          <p:nvPr>
            <p:ph type="title"/>
          </p:nvPr>
        </p:nvSpPr>
        <p:spPr/>
        <p:txBody>
          <a:bodyPr/>
          <a:lstStyle/>
          <a:p>
            <a:pPr algn="ctr"/>
            <a:r>
              <a:rPr lang="en-IN" dirty="0">
                <a:solidFill>
                  <a:schemeClr val="accent1"/>
                </a:solidFill>
                <a:latin typeface="Algerian" pitchFamily="82" charset="0"/>
              </a:rPr>
              <a:t>Module integration</a:t>
            </a:r>
          </a:p>
        </p:txBody>
      </p:sp>
    </p:spTree>
    <p:extLst>
      <p:ext uri="{BB962C8B-B14F-4D97-AF65-F5344CB8AC3E}">
        <p14:creationId xmlns:p14="http://schemas.microsoft.com/office/powerpoint/2010/main" val="1611841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40000" lnSpcReduction="20000"/>
          </a:bodyPr>
          <a:lstStyle/>
          <a:p>
            <a:r>
              <a:rPr lang="en-US" dirty="0">
                <a:latin typeface="Bahnschrift Condensed" pitchFamily="34" charset="0"/>
              </a:rPr>
              <a:t> PRAGATI ENGINEERING COLLEGE</a:t>
            </a:r>
          </a:p>
          <a:p>
            <a:r>
              <a:rPr lang="en-US" dirty="0">
                <a:latin typeface="Bahnschrift Condensed" pitchFamily="34" charset="0"/>
              </a:rPr>
              <a:t>        -------------------------------------</a:t>
            </a:r>
          </a:p>
          <a:p>
            <a:r>
              <a:rPr lang="en-US" dirty="0">
                <a:latin typeface="Bahnschrift Condensed" pitchFamily="34" charset="0"/>
              </a:rPr>
              <a:t>           STUDENT GRADE MANAGEMENT REPORT</a:t>
            </a:r>
          </a:p>
          <a:p>
            <a:r>
              <a:rPr lang="en-US" dirty="0">
                <a:latin typeface="Bahnschrift Condensed" pitchFamily="34" charset="0"/>
              </a:rPr>
              <a:t>        -------------------------------------</a:t>
            </a:r>
          </a:p>
          <a:p>
            <a:endParaRPr lang="en-US" dirty="0">
              <a:latin typeface="Bahnschrift Condensed" pitchFamily="34" charset="0"/>
            </a:endParaRPr>
          </a:p>
          <a:p>
            <a:r>
              <a:rPr lang="en-US" dirty="0">
                <a:latin typeface="Bahnschrift Condensed" pitchFamily="34" charset="0"/>
              </a:rPr>
              <a:t>Department : ___________________</a:t>
            </a:r>
          </a:p>
          <a:p>
            <a:r>
              <a:rPr lang="en-US" dirty="0">
                <a:latin typeface="Bahnschrift Condensed" pitchFamily="34" charset="0"/>
              </a:rPr>
              <a:t>Year : ________     Sec : ________</a:t>
            </a:r>
          </a:p>
          <a:p>
            <a:r>
              <a:rPr lang="en-US" dirty="0">
                <a:latin typeface="Bahnschrift Condensed" pitchFamily="34" charset="0"/>
              </a:rPr>
              <a:t>Roll No : __________</a:t>
            </a:r>
          </a:p>
          <a:p>
            <a:r>
              <a:rPr lang="en-US" dirty="0">
                <a:latin typeface="Bahnschrift Condensed" pitchFamily="34" charset="0"/>
              </a:rPr>
              <a:t>Name : _______________</a:t>
            </a:r>
          </a:p>
          <a:p>
            <a:r>
              <a:rPr lang="en-US" dirty="0">
                <a:latin typeface="Bahnschrift Condensed" pitchFamily="34" charset="0"/>
              </a:rPr>
              <a:t>Date : _______________</a:t>
            </a:r>
          </a:p>
          <a:p>
            <a:endParaRPr lang="en-US" dirty="0">
              <a:latin typeface="Bahnschrift Condensed" pitchFamily="34" charset="0"/>
            </a:endParaRPr>
          </a:p>
          <a:p>
            <a:r>
              <a:rPr lang="en-US" dirty="0">
                <a:latin typeface="Bahnschrift Condensed" pitchFamily="34" charset="0"/>
              </a:rPr>
              <a:t>---------------------------------------------------</a:t>
            </a:r>
          </a:p>
          <a:p>
            <a:r>
              <a:rPr lang="en-US" dirty="0">
                <a:latin typeface="Bahnschrift Condensed" pitchFamily="34" charset="0"/>
              </a:rPr>
              <a:t>Subject           Credits          Grade</a:t>
            </a:r>
          </a:p>
          <a:p>
            <a:r>
              <a:rPr lang="en-US" dirty="0">
                <a:latin typeface="Bahnschrift Condensed" pitchFamily="34" charset="0"/>
              </a:rPr>
              <a:t>---------------------------------------------------</a:t>
            </a:r>
          </a:p>
          <a:p>
            <a:r>
              <a:rPr lang="en-US" dirty="0">
                <a:latin typeface="Bahnschrift Condensed" pitchFamily="34" charset="0"/>
              </a:rPr>
              <a:t>Subject 1           ___              ___</a:t>
            </a:r>
          </a:p>
          <a:p>
            <a:r>
              <a:rPr lang="en-US" dirty="0">
                <a:latin typeface="Bahnschrift Condensed" pitchFamily="34" charset="0"/>
              </a:rPr>
              <a:t>Subject 2           ___              ___</a:t>
            </a:r>
          </a:p>
          <a:p>
            <a:r>
              <a:rPr lang="en-US" dirty="0">
                <a:latin typeface="Bahnschrift Condensed" pitchFamily="34" charset="0"/>
              </a:rPr>
              <a:t>Subject 3           ___              ___</a:t>
            </a:r>
          </a:p>
          <a:p>
            <a:r>
              <a:rPr lang="en-US" dirty="0">
                <a:latin typeface="Bahnschrift Condensed" pitchFamily="34" charset="0"/>
              </a:rPr>
              <a:t>Subject 4           ___              ___</a:t>
            </a:r>
          </a:p>
          <a:p>
            <a:r>
              <a:rPr lang="en-US" dirty="0">
                <a:latin typeface="Bahnschrift Condensed" pitchFamily="34" charset="0"/>
              </a:rPr>
              <a:t>Subject 5           ___              ___</a:t>
            </a:r>
          </a:p>
          <a:p>
            <a:r>
              <a:rPr lang="en-US" dirty="0">
                <a:latin typeface="Bahnschrift Condensed" pitchFamily="34" charset="0"/>
              </a:rPr>
              <a:t>---------------------------------------------------</a:t>
            </a:r>
          </a:p>
          <a:p>
            <a:endParaRPr lang="en-US" dirty="0">
              <a:latin typeface="Bahnschrift Condensed" pitchFamily="34" charset="0"/>
            </a:endParaRPr>
          </a:p>
          <a:p>
            <a:r>
              <a:rPr lang="en-US" dirty="0">
                <a:latin typeface="Bahnschrift Condensed" pitchFamily="34" charset="0"/>
              </a:rPr>
              <a:t>SGPA : ______________________</a:t>
            </a:r>
            <a:endParaRPr lang="en-IN" dirty="0">
              <a:latin typeface="Bahnschrift Condensed" pitchFamily="34" charset="0"/>
            </a:endParaRPr>
          </a:p>
        </p:txBody>
      </p:sp>
      <p:sp>
        <p:nvSpPr>
          <p:cNvPr id="2" name="Title 1"/>
          <p:cNvSpPr>
            <a:spLocks noGrp="1"/>
          </p:cNvSpPr>
          <p:nvPr>
            <p:ph type="title"/>
          </p:nvPr>
        </p:nvSpPr>
        <p:spPr>
          <a:xfrm>
            <a:off x="971600" y="274638"/>
            <a:ext cx="7105600" cy="922114"/>
          </a:xfrm>
        </p:spPr>
        <p:txBody>
          <a:bodyPr/>
          <a:lstStyle/>
          <a:p>
            <a:pPr algn="ctr"/>
            <a:r>
              <a:rPr lang="en-IN" dirty="0">
                <a:solidFill>
                  <a:schemeClr val="accent1"/>
                </a:solidFill>
                <a:latin typeface="Algerian" pitchFamily="82" charset="0"/>
              </a:rPr>
              <a:t>Sample Format</a:t>
            </a:r>
          </a:p>
        </p:txBody>
      </p:sp>
    </p:spTree>
    <p:extLst>
      <p:ext uri="{BB962C8B-B14F-4D97-AF65-F5344CB8AC3E}">
        <p14:creationId xmlns:p14="http://schemas.microsoft.com/office/powerpoint/2010/main" val="1356821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marL="114300" indent="0">
              <a:buNone/>
            </a:pPr>
            <a:r>
              <a:rPr lang="en-US" dirty="0">
                <a:latin typeface="Bahnschrift Condensed" pitchFamily="34" charset="0"/>
              </a:rPr>
              <a:t>PRAGATI ENGINEERING COLLEGE</a:t>
            </a:r>
          </a:p>
          <a:p>
            <a:pPr marL="114300" indent="0">
              <a:buNone/>
            </a:pPr>
            <a:r>
              <a:rPr lang="en-US" dirty="0">
                <a:latin typeface="Bahnschrift Condensed" pitchFamily="34" charset="0"/>
              </a:rPr>
              <a:t>Department: civil</a:t>
            </a:r>
          </a:p>
          <a:p>
            <a:pPr marL="114300" indent="0">
              <a:buNone/>
            </a:pPr>
            <a:r>
              <a:rPr lang="en-US" dirty="0">
                <a:latin typeface="Bahnschrift Condensed" pitchFamily="34" charset="0"/>
              </a:rPr>
              <a:t>Year: 2025   Section: a</a:t>
            </a:r>
          </a:p>
          <a:p>
            <a:pPr marL="114300" indent="0">
              <a:buNone/>
            </a:pPr>
            <a:r>
              <a:rPr lang="en-US" dirty="0">
                <a:latin typeface="Bahnschrift Condensed" pitchFamily="34" charset="0"/>
              </a:rPr>
              <a:t>Roll No: 120   Name: </a:t>
            </a:r>
            <a:r>
              <a:rPr lang="en-US" dirty="0" err="1">
                <a:latin typeface="Bahnschrift Condensed" pitchFamily="34" charset="0"/>
              </a:rPr>
              <a:t>sai</a:t>
            </a:r>
            <a:endParaRPr lang="en-US" dirty="0">
              <a:latin typeface="Bahnschrift Condensed" pitchFamily="34" charset="0"/>
            </a:endParaRPr>
          </a:p>
          <a:p>
            <a:pPr marL="114300" indent="0">
              <a:buNone/>
            </a:pPr>
            <a:r>
              <a:rPr lang="en-US" dirty="0">
                <a:latin typeface="Bahnschrift Condensed" pitchFamily="34" charset="0"/>
              </a:rPr>
              <a:t>---------------------------------------------</a:t>
            </a:r>
          </a:p>
          <a:p>
            <a:pPr marL="114300" indent="0">
              <a:buNone/>
            </a:pPr>
            <a:r>
              <a:rPr lang="en-US" dirty="0">
                <a:latin typeface="Bahnschrift Condensed" pitchFamily="34" charset="0"/>
              </a:rPr>
              <a:t>Subject      Credits   Grade</a:t>
            </a:r>
          </a:p>
          <a:p>
            <a:pPr marL="114300" indent="0">
              <a:buNone/>
            </a:pPr>
            <a:r>
              <a:rPr lang="en-US" dirty="0">
                <a:latin typeface="Bahnschrift Condensed" pitchFamily="34" charset="0"/>
              </a:rPr>
              <a:t>Subject 1      4        0.0</a:t>
            </a:r>
          </a:p>
          <a:p>
            <a:pPr marL="114300" indent="0">
              <a:buNone/>
            </a:pPr>
            <a:r>
              <a:rPr lang="en-US" dirty="0">
                <a:latin typeface="Bahnschrift Condensed" pitchFamily="34" charset="0"/>
              </a:rPr>
              <a:t>Subject 2      9        7.0</a:t>
            </a:r>
          </a:p>
          <a:p>
            <a:pPr marL="114300" indent="0">
              <a:buNone/>
            </a:pPr>
            <a:r>
              <a:rPr lang="en-US" dirty="0">
                <a:latin typeface="Bahnschrift Condensed" pitchFamily="34" charset="0"/>
              </a:rPr>
              <a:t>Subject 3      7        10.0</a:t>
            </a:r>
          </a:p>
          <a:p>
            <a:pPr marL="114300" indent="0">
              <a:buNone/>
            </a:pPr>
            <a:r>
              <a:rPr lang="en-US" dirty="0">
                <a:latin typeface="Bahnschrift Condensed" pitchFamily="34" charset="0"/>
              </a:rPr>
              <a:t>Subject 4      6        8.0</a:t>
            </a:r>
          </a:p>
          <a:p>
            <a:pPr marL="114300" indent="0">
              <a:buNone/>
            </a:pPr>
            <a:r>
              <a:rPr lang="en-US" dirty="0">
                <a:latin typeface="Bahnschrift Condensed" pitchFamily="34" charset="0"/>
              </a:rPr>
              <a:t>Subject 5      5        7.0</a:t>
            </a:r>
          </a:p>
          <a:p>
            <a:pPr marL="114300" indent="0">
              <a:buNone/>
            </a:pPr>
            <a:endParaRPr lang="en-US" dirty="0">
              <a:latin typeface="Bahnschrift Condensed" pitchFamily="34" charset="0"/>
            </a:endParaRPr>
          </a:p>
          <a:p>
            <a:pPr marL="114300" indent="0">
              <a:buNone/>
            </a:pPr>
            <a:r>
              <a:rPr lang="en-IN" dirty="0">
                <a:latin typeface="Bahnschrift Condensed" pitchFamily="34" charset="0"/>
              </a:rPr>
              <a:t>SGPA = 6.97</a:t>
            </a:r>
          </a:p>
        </p:txBody>
      </p:sp>
      <p:sp>
        <p:nvSpPr>
          <p:cNvPr id="2" name="Title 1"/>
          <p:cNvSpPr>
            <a:spLocks noGrp="1"/>
          </p:cNvSpPr>
          <p:nvPr>
            <p:ph type="title"/>
          </p:nvPr>
        </p:nvSpPr>
        <p:spPr/>
        <p:txBody>
          <a:bodyPr/>
          <a:lstStyle/>
          <a:p>
            <a:pPr algn="ctr"/>
            <a:r>
              <a:rPr lang="en-IN" dirty="0">
                <a:solidFill>
                  <a:schemeClr val="accent1"/>
                </a:solidFill>
                <a:latin typeface="Algerian" pitchFamily="82" charset="0"/>
              </a:rPr>
              <a:t>SAMPLE output</a:t>
            </a:r>
          </a:p>
        </p:txBody>
      </p:sp>
    </p:spTree>
    <p:extLst>
      <p:ext uri="{BB962C8B-B14F-4D97-AF65-F5344CB8AC3E}">
        <p14:creationId xmlns:p14="http://schemas.microsoft.com/office/powerpoint/2010/main" val="380719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latin typeface="Bahnschrift Condensed" pitchFamily="34" charset="0"/>
              </a:rPr>
              <a:t>The Student Grade Management System provides an efficient and structured way to record, process, and display student marks and grades. By using simple if–else if conditions, the system accurately evaluates the performance of each student in all subjects and calculates overall results such as total marks, percentage, and grade classification. This project helps reduce manual work, minimizes errors, and ensures quick and reliable grade </a:t>
            </a:r>
            <a:r>
              <a:rPr lang="en-US" dirty="0" err="1">
                <a:latin typeface="Bahnschrift Condensed" pitchFamily="34" charset="0"/>
              </a:rPr>
              <a:t>calculations.Overall</a:t>
            </a:r>
            <a:r>
              <a:rPr lang="en-US" dirty="0">
                <a:latin typeface="Bahnschrift Condensed" pitchFamily="34" charset="0"/>
              </a:rPr>
              <a:t>, the system is easy to use, improves academic data management, and demonstrates how basic C programming concepts can be applied to solve real-time problems effectively.</a:t>
            </a:r>
            <a:endParaRPr lang="en-IN" dirty="0">
              <a:latin typeface="Bahnschrift Condensed" pitchFamily="34" charset="0"/>
            </a:endParaRPr>
          </a:p>
        </p:txBody>
      </p:sp>
      <p:sp>
        <p:nvSpPr>
          <p:cNvPr id="3" name="Title 2"/>
          <p:cNvSpPr>
            <a:spLocks noGrp="1"/>
          </p:cNvSpPr>
          <p:nvPr>
            <p:ph type="title"/>
          </p:nvPr>
        </p:nvSpPr>
        <p:spPr>
          <a:xfrm>
            <a:off x="611560" y="476672"/>
            <a:ext cx="8229600" cy="1143000"/>
          </a:xfrm>
        </p:spPr>
        <p:txBody>
          <a:bodyPr/>
          <a:lstStyle/>
          <a:p>
            <a:pPr algn="ctr"/>
            <a:r>
              <a:rPr lang="en-IN" dirty="0">
                <a:solidFill>
                  <a:schemeClr val="accent1"/>
                </a:solidFill>
                <a:latin typeface="Algerian" pitchFamily="82" charset="0"/>
              </a:rPr>
              <a:t>CONCLUSION</a:t>
            </a:r>
          </a:p>
        </p:txBody>
      </p:sp>
    </p:spTree>
    <p:extLst>
      <p:ext uri="{BB962C8B-B14F-4D97-AF65-F5344CB8AC3E}">
        <p14:creationId xmlns:p14="http://schemas.microsoft.com/office/powerpoint/2010/main" val="39071400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83506" y="2967335"/>
            <a:ext cx="3776996"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i="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Thank You</a:t>
            </a:r>
          </a:p>
        </p:txBody>
      </p:sp>
    </p:spTree>
    <p:extLst>
      <p:ext uri="{BB962C8B-B14F-4D97-AF65-F5344CB8AC3E}">
        <p14:creationId xmlns:p14="http://schemas.microsoft.com/office/powerpoint/2010/main" val="11156237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381</TotalTime>
  <Words>1866</Words>
  <Application>Microsoft Office PowerPoint</Application>
  <PresentationFormat>On-screen Show (4:3)</PresentationFormat>
  <Paragraphs>209</Paragraphs>
  <Slides>20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Algerian</vt:lpstr>
      <vt:lpstr>Bahnschrift Condensed</vt:lpstr>
      <vt:lpstr>Calibri</vt:lpstr>
      <vt:lpstr>Lucida Sans Unicode</vt:lpstr>
      <vt:lpstr>Verdana</vt:lpstr>
      <vt:lpstr>Wingdings 2</vt:lpstr>
      <vt:lpstr>Wingdings 3</vt:lpstr>
      <vt:lpstr>Concourse</vt:lpstr>
      <vt:lpstr>STUDENT GRADE MANGEMENT SYSTEM </vt:lpstr>
      <vt:lpstr>REQUIREMENTS</vt:lpstr>
      <vt:lpstr>INTRODUCTION</vt:lpstr>
      <vt:lpstr>ALGORITHM</vt:lpstr>
      <vt:lpstr>PowerPoint Presentation</vt:lpstr>
      <vt:lpstr>PowerPoint Presentation</vt:lpstr>
      <vt:lpstr> FLOWCHART</vt:lpstr>
      <vt:lpstr>modules</vt:lpstr>
      <vt:lpstr>MODULE-WISE-LOGIC</vt:lpstr>
      <vt:lpstr>Complete code</vt:lpstr>
      <vt:lpstr>Complete code</vt:lpstr>
      <vt:lpstr>Complete code</vt:lpstr>
      <vt:lpstr>Complete code</vt:lpstr>
      <vt:lpstr>COMPLETE CODE</vt:lpstr>
      <vt:lpstr>COMPLETE CODE</vt:lpstr>
      <vt:lpstr>Module integration</vt:lpstr>
      <vt:lpstr>Sample Format</vt:lpstr>
      <vt:lpstr>SAMPLE output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GRADE MANGEMENT SYSTEM</dc:title>
  <dc:creator>Lenovo</dc:creator>
  <cp:lastModifiedBy>25B11CS535</cp:lastModifiedBy>
  <cp:revision>18</cp:revision>
  <dcterms:created xsi:type="dcterms:W3CDTF">2025-12-04T05:42:19Z</dcterms:created>
  <dcterms:modified xsi:type="dcterms:W3CDTF">2025-12-09T14:18:46Z</dcterms:modified>
</cp:coreProperties>
</file>